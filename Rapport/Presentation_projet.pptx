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2" r:id="rId4"/>
    <p:sldId id="268" r:id="rId5"/>
    <p:sldId id="271" r:id="rId6"/>
    <p:sldId id="572" r:id="rId7"/>
    <p:sldId id="560" r:id="rId8"/>
    <p:sldId id="561" r:id="rId9"/>
    <p:sldId id="263" r:id="rId10"/>
    <p:sldId id="562" r:id="rId11"/>
    <p:sldId id="278" r:id="rId12"/>
    <p:sldId id="564" r:id="rId13"/>
    <p:sldId id="565" r:id="rId14"/>
    <p:sldId id="573" r:id="rId15"/>
    <p:sldId id="566" r:id="rId16"/>
    <p:sldId id="567" r:id="rId17"/>
    <p:sldId id="568" r:id="rId18"/>
    <p:sldId id="569" r:id="rId19"/>
    <p:sldId id="570" r:id="rId20"/>
    <p:sldId id="279"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3410" autoAdjust="0"/>
  </p:normalViewPr>
  <p:slideViewPr>
    <p:cSldViewPr snapToGrid="0" snapToObjects="1">
      <p:cViewPr varScale="1">
        <p:scale>
          <a:sx n="85" d="100"/>
          <a:sy n="85" d="100"/>
        </p:scale>
        <p:origin x="7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378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9AA4B-91A6-0F42-4599-F818CAF61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B5619-6392-DE6D-A038-597E5AE8C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F9283-1D33-3C45-3A7C-0B986DA416C6}"/>
              </a:ext>
            </a:extLst>
          </p:cNvPr>
          <p:cNvSpPr>
            <a:spLocks noGrp="1"/>
          </p:cNvSpPr>
          <p:nvPr>
            <p:ph type="body" idx="1"/>
          </p:nvPr>
        </p:nvSpPr>
        <p:spPr/>
        <p:txBody>
          <a:bodyPr/>
          <a:lstStyle/>
          <a:p>
            <a:r>
              <a:rPr lang="fr-FR" dirty="0"/>
              <a:t>.</a:t>
            </a:r>
            <a:endParaRPr lang="en-US" dirty="0"/>
          </a:p>
        </p:txBody>
      </p:sp>
      <p:sp>
        <p:nvSpPr>
          <p:cNvPr id="4" name="Slide Number Placeholder 3">
            <a:extLst>
              <a:ext uri="{FF2B5EF4-FFF2-40B4-BE49-F238E27FC236}">
                <a16:creationId xmlns:a16="http://schemas.microsoft.com/office/drawing/2014/main" id="{A529219A-0A43-761D-C908-6AF841A14DE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84345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fr-FR" dirty="0"/>
              <a:t>Dans les véhicules classiques, l’énergie cinétique produite pendant le mouvement est perdue lors du freinage sous forme de chaleur. Dans notre projet, nous cherchons à exploiter cette énergie grâce au freinage régénératif. Le défi est donc de maximiser la récupération d’énergie sans compromettre la performance et la sécurité du freinage.</a:t>
            </a:r>
            <a:endParaRPr lang="en-US" dirty="0"/>
          </a:p>
        </p:txBody>
      </p:sp>
    </p:spTree>
    <p:extLst>
      <p:ext uri="{BB962C8B-B14F-4D97-AF65-F5344CB8AC3E}">
        <p14:creationId xmlns:p14="http://schemas.microsoft.com/office/powerpoint/2010/main" val="4061500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21154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97C42-ECA2-7306-76B7-CBC3E9B8C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FDEFF-7416-E510-9ABF-83641A4A2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EFC76-53C4-1D27-0B69-089ADC4124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4E8A28-1962-7AAD-96BF-FD83D7BF2CD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10279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F1250F-CBB6-4151-9D19-DACD22C073EF}" type="slidenum">
              <a:rPr lang="fr-FR" smtClean="0"/>
              <a:t>7</a:t>
            </a:fld>
            <a:endParaRPr lang="fr-FR"/>
          </a:p>
        </p:txBody>
      </p:sp>
    </p:spTree>
    <p:extLst>
      <p:ext uri="{BB962C8B-B14F-4D97-AF65-F5344CB8AC3E}">
        <p14:creationId xmlns:p14="http://schemas.microsoft.com/office/powerpoint/2010/main" val="2714124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3F1250F-CBB6-4151-9D19-DACD22C073EF}" type="slidenum">
              <a:rPr lang="fr-FR" smtClean="0"/>
              <a:t>8</a:t>
            </a:fld>
            <a:endParaRPr lang="fr-FR"/>
          </a:p>
        </p:txBody>
      </p:sp>
    </p:spTree>
    <p:extLst>
      <p:ext uri="{BB962C8B-B14F-4D97-AF65-F5344CB8AC3E}">
        <p14:creationId xmlns:p14="http://schemas.microsoft.com/office/powerpoint/2010/main" val="4233077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66338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61391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23EC-0599-022A-38C7-AD0252A53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5055C-A4A7-6778-6B01-8EB611384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BD8F7-CD03-2E44-17AE-CAB49F9C34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9A8206-B2D0-5ECF-2768-81789904D0D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399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44925-7BF4-7B29-7809-A146E76D6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BFC3C-0991-E78E-76FF-BEA142415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92107-B02A-F9CA-ABE9-B198DE7561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92DF8E-3A67-0E5B-DC45-0ED56DF367A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99040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DE97-2477-92C6-0BF3-CDC449DD0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0FE5F-D540-A614-8781-AA2D81B05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5580D-704C-1BDF-2A4A-70922735EC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58F5E1-3E67-3355-9BAD-029B1E256AA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842726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D56D-9480-C82E-37A0-26E0DCA78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FD6A7-172E-D32F-46E6-F3BF08651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3DC4B-F6CD-F3BE-41E7-BDE92A3603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AB5EB-07E9-8C23-701E-BEA52F86F19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575910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7D19C-772B-2AED-6A7C-F2A404566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71F44-C1BC-0D9F-35B1-844572BA3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22129-01AD-E9BD-3748-0DA141EA65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EC64A7-95A0-8616-6B1D-0472BF6B058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87066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0B11-9700-FE46-60C1-09CEB3AE5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83394-0B8F-C698-AC5F-6EA9C65B0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4EC7D-025C-2D8A-01AD-1D58C383F2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A9E146-F108-ABA7-E340-97C09208122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49707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A1D09-C7DA-B816-EF26-C17421DEE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DF71E-B12A-88F5-C2B8-006211918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508C1-165A-CE91-85C6-4E121B20F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A88F7C-0EF2-A629-3C83-91B37F4C49A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94376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70F73-D385-AEBB-4DF5-1244F3263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896B1-D847-0B7F-D4DB-4473D45F2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79E3A-EA07-C8BC-1B2D-B246B6C5BF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53A1E6-845B-D447-FDB4-67A203C2D6C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73565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442468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rotWithShape="1">
          <a:blip r:embed="rId3"/>
          <a:srcRect l="2305" t="17971" r="92553" b="18288"/>
          <a:stretch/>
        </p:blipFill>
        <p:spPr>
          <a:xfrm>
            <a:off x="384948" y="1854199"/>
            <a:ext cx="386576" cy="1817179"/>
          </a:xfrm>
          <a:prstGeom prst="rect">
            <a:avLst/>
          </a:prstGeom>
        </p:spPr>
      </p:pic>
      <p:sp>
        <p:nvSpPr>
          <p:cNvPr id="4" name="Text 1"/>
          <p:cNvSpPr/>
          <p:nvPr/>
        </p:nvSpPr>
        <p:spPr>
          <a:xfrm>
            <a:off x="771525" y="1802410"/>
            <a:ext cx="5701882" cy="1538883"/>
          </a:xfrm>
          <a:prstGeom prst="rect">
            <a:avLst/>
          </a:prstGeom>
          <a:noFill/>
          <a:ln/>
        </p:spPr>
        <p:txBody>
          <a:bodyPr wrap="square" lIns="0" tIns="0" rIns="0" bIns="0" rtlCol="0" anchor="t">
            <a:spAutoFit/>
          </a:bodyPr>
          <a:lstStyle/>
          <a:p>
            <a:pPr>
              <a:lnSpc>
                <a:spcPts val="4000"/>
              </a:lnSpc>
            </a:pPr>
            <a:r>
              <a:rPr lang="en-US" sz="2800" b="1" dirty="0">
                <a:solidFill>
                  <a:srgbClr val="0F172A"/>
                </a:solidFill>
                <a:latin typeface="Arial" panose="020B0604020202020204" pitchFamily="34" charset="0"/>
                <a:ea typeface="Montserrat" pitchFamily="34" charset="-122"/>
                <a:cs typeface="Arial" panose="020B0604020202020204" pitchFamily="34" charset="0"/>
              </a:rPr>
              <a:t>Conception d’une stratégie de </a:t>
            </a:r>
            <a:r>
              <a:rPr lang="en-US" sz="2800" b="1" dirty="0" err="1">
                <a:solidFill>
                  <a:srgbClr val="0F172A"/>
                </a:solidFill>
                <a:latin typeface="Arial" panose="020B0604020202020204" pitchFamily="34" charset="0"/>
                <a:ea typeface="Montserrat" pitchFamily="34" charset="-122"/>
                <a:cs typeface="Arial" panose="020B0604020202020204" pitchFamily="34" charset="0"/>
              </a:rPr>
              <a:t>freinage</a:t>
            </a:r>
            <a:r>
              <a:rPr lang="en-US" sz="2800" b="1" dirty="0">
                <a:solidFill>
                  <a:srgbClr val="0F172A"/>
                </a:solidFill>
                <a:latin typeface="Arial" panose="020B0604020202020204" pitchFamily="34" charset="0"/>
                <a:ea typeface="Montserrat" pitchFamily="34" charset="-122"/>
                <a:cs typeface="Arial" panose="020B0604020202020204" pitchFamily="34" charset="0"/>
              </a:rPr>
              <a:t> </a:t>
            </a:r>
            <a:r>
              <a:rPr lang="en-US" sz="2800" b="1" dirty="0" err="1">
                <a:solidFill>
                  <a:srgbClr val="0F172A"/>
                </a:solidFill>
                <a:latin typeface="Arial" panose="020B0604020202020204" pitchFamily="34" charset="0"/>
                <a:ea typeface="Montserrat" pitchFamily="34" charset="-122"/>
                <a:cs typeface="Arial" panose="020B0604020202020204" pitchFamily="34" charset="0"/>
              </a:rPr>
              <a:t>régénératif</a:t>
            </a:r>
            <a:r>
              <a:rPr lang="en-US" sz="2800" b="1" dirty="0">
                <a:solidFill>
                  <a:srgbClr val="0F172A"/>
                </a:solidFill>
                <a:latin typeface="Arial" panose="020B0604020202020204" pitchFamily="34" charset="0"/>
                <a:ea typeface="Montserrat" pitchFamily="34" charset="-122"/>
                <a:cs typeface="Arial" panose="020B0604020202020204" pitchFamily="34" charset="0"/>
              </a:rPr>
              <a:t> </a:t>
            </a:r>
            <a:r>
              <a:rPr lang="fr-FR" sz="2800" b="1" dirty="0">
                <a:solidFill>
                  <a:srgbClr val="0F172A"/>
                </a:solidFill>
                <a:latin typeface="Arial" panose="020B0604020202020204" pitchFamily="34" charset="0"/>
                <a:ea typeface="Montserrat" pitchFamily="34" charset="-122"/>
                <a:cs typeface="Arial" panose="020B0604020202020204" pitchFamily="34" charset="0"/>
              </a:rPr>
              <a:t>pour véhicule électrique / hybride</a:t>
            </a:r>
            <a:endParaRPr lang="en-US" sz="2800" b="1" dirty="0">
              <a:solidFill>
                <a:srgbClr val="0F172A"/>
              </a:solidFill>
              <a:latin typeface="Arial" panose="020B0604020202020204" pitchFamily="34" charset="0"/>
              <a:ea typeface="Montserrat" pitchFamily="34" charset="-122"/>
              <a:cs typeface="Arial" panose="020B0604020202020204" pitchFamily="34" charset="0"/>
            </a:endParaRPr>
          </a:p>
        </p:txBody>
      </p:sp>
      <p:sp>
        <p:nvSpPr>
          <p:cNvPr id="5" name="Text 2"/>
          <p:cNvSpPr/>
          <p:nvPr/>
        </p:nvSpPr>
        <p:spPr>
          <a:xfrm>
            <a:off x="771524" y="3389250"/>
            <a:ext cx="4473982" cy="282129"/>
          </a:xfrm>
          <a:prstGeom prst="rect">
            <a:avLst/>
          </a:prstGeom>
          <a:noFill/>
          <a:ln/>
        </p:spPr>
        <p:txBody>
          <a:bodyPr wrap="none" lIns="0" tIns="0" rIns="0" bIns="0" rtlCol="0" anchor="t">
            <a:spAutoFit/>
          </a:bodyPr>
          <a:lstStyle/>
          <a:p>
            <a:pPr>
              <a:lnSpc>
                <a:spcPts val="2200"/>
              </a:lnSpc>
            </a:pPr>
            <a:r>
              <a:rPr lang="fr-FR" sz="1704" noProof="0" dirty="0">
                <a:solidFill>
                  <a:srgbClr val="94A3B8"/>
                </a:solidFill>
                <a:latin typeface="Montserrat" pitchFamily="34" charset="0"/>
                <a:ea typeface="Montserrat" pitchFamily="34" charset="-122"/>
                <a:cs typeface="Montserrat" pitchFamily="34" charset="-120"/>
              </a:rPr>
              <a:t>Analyse, modélisation et stratégie de contrôle</a:t>
            </a:r>
            <a:endParaRPr lang="fr-FR" sz="1704" noProof="0" dirty="0"/>
          </a:p>
        </p:txBody>
      </p:sp>
      <p:sp>
        <p:nvSpPr>
          <p:cNvPr id="6" name="Text 3"/>
          <p:cNvSpPr/>
          <p:nvPr/>
        </p:nvSpPr>
        <p:spPr>
          <a:xfrm>
            <a:off x="771525" y="3887139"/>
            <a:ext cx="956993" cy="179536"/>
          </a:xfrm>
          <a:prstGeom prst="rect">
            <a:avLst/>
          </a:prstGeom>
          <a:noFill/>
          <a:ln/>
        </p:spPr>
        <p:txBody>
          <a:bodyPr wrap="none" lIns="0" tIns="0" rIns="0" bIns="0" rtlCol="0" anchor="t">
            <a:spAutoFit/>
          </a:bodyPr>
          <a:lstStyle/>
          <a:p>
            <a:pPr marL="0" indent="0" algn="l">
              <a:lnSpc>
                <a:spcPts val="1400"/>
              </a:lnSpc>
              <a:buNone/>
            </a:pPr>
            <a:r>
              <a:rPr lang="en-US" sz="1200" b="1" dirty="0">
                <a:solidFill>
                  <a:srgbClr val="0F172A"/>
                </a:solidFill>
                <a:latin typeface="Arial" panose="020B0604020202020204" pitchFamily="34" charset="0"/>
                <a:ea typeface="Lora" pitchFamily="34" charset="-122"/>
                <a:cs typeface="Arial" panose="020B0604020202020204" pitchFamily="34" charset="0"/>
              </a:rPr>
              <a:t>Réalisé par :</a:t>
            </a:r>
            <a:r>
              <a:rPr lang="en-US" sz="1200" dirty="0">
                <a:solidFill>
                  <a:srgbClr val="475569"/>
                </a:solidFill>
                <a:latin typeface="Arial" panose="020B0604020202020204" pitchFamily="34" charset="0"/>
                <a:ea typeface="Lora" pitchFamily="34" charset="-122"/>
                <a:cs typeface="Arial" panose="020B0604020202020204" pitchFamily="34" charset="0"/>
              </a:rPr>
              <a:t> </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6635846" y="3887139"/>
            <a:ext cx="1025922" cy="179536"/>
          </a:xfrm>
          <a:prstGeom prst="rect">
            <a:avLst/>
          </a:prstGeom>
          <a:noFill/>
          <a:ln/>
        </p:spPr>
        <p:txBody>
          <a:bodyPr wrap="none" lIns="0" tIns="0" rIns="0" bIns="0" rtlCol="0" anchor="t">
            <a:spAutoFit/>
          </a:bodyPr>
          <a:lstStyle/>
          <a:p>
            <a:pPr marL="0" indent="0" algn="l">
              <a:lnSpc>
                <a:spcPts val="1400"/>
              </a:lnSpc>
              <a:buNone/>
            </a:pPr>
            <a:r>
              <a:rPr lang="en-US" sz="1200" b="1" dirty="0">
                <a:solidFill>
                  <a:srgbClr val="0F172A"/>
                </a:solidFill>
                <a:latin typeface="Arial" panose="020B0604020202020204" pitchFamily="34" charset="0"/>
                <a:ea typeface="Lora" pitchFamily="34" charset="-122"/>
                <a:cs typeface="Arial" panose="020B0604020202020204" pitchFamily="34" charset="0"/>
              </a:rPr>
              <a:t>Encadré par :</a:t>
            </a:r>
            <a:r>
              <a:rPr lang="en-US" sz="1200" dirty="0">
                <a:solidFill>
                  <a:srgbClr val="475569"/>
                </a:solidFill>
                <a:latin typeface="Arial" panose="020B0604020202020204" pitchFamily="34" charset="0"/>
                <a:ea typeface="Lora" pitchFamily="34" charset="-122"/>
                <a:cs typeface="Arial" panose="020B0604020202020204" pitchFamily="34" charset="0"/>
              </a:rPr>
              <a:t> </a:t>
            </a:r>
            <a:endParaRPr lang="en-US" sz="1200" dirty="0">
              <a:latin typeface="Arial" panose="020B0604020202020204" pitchFamily="34" charset="0"/>
              <a:cs typeface="Arial" panose="020B0604020202020204" pitchFamily="34" charset="0"/>
            </a:endParaRPr>
          </a:p>
        </p:txBody>
      </p:sp>
      <p:sp>
        <p:nvSpPr>
          <p:cNvPr id="8" name="Text 5"/>
          <p:cNvSpPr/>
          <p:nvPr/>
        </p:nvSpPr>
        <p:spPr>
          <a:xfrm>
            <a:off x="3793680" y="4681358"/>
            <a:ext cx="1090042" cy="179536"/>
          </a:xfrm>
          <a:prstGeom prst="rect">
            <a:avLst/>
          </a:prstGeom>
          <a:noFill/>
          <a:ln/>
        </p:spPr>
        <p:txBody>
          <a:bodyPr wrap="none" lIns="0" tIns="0" rIns="0" bIns="0" rtlCol="0" anchor="t">
            <a:spAutoFit/>
          </a:bodyPr>
          <a:lstStyle/>
          <a:p>
            <a:pPr marL="0" indent="0" algn="l">
              <a:lnSpc>
                <a:spcPts val="1400"/>
              </a:lnSpc>
              <a:buNone/>
            </a:pPr>
            <a:r>
              <a:rPr lang="en-US" sz="1200" dirty="0">
                <a:latin typeface="Arial" panose="020B0604020202020204" pitchFamily="34" charset="0"/>
                <a:ea typeface="Lora" pitchFamily="34" charset="-122"/>
                <a:cs typeface="Arial" panose="020B0604020202020204" pitchFamily="34" charset="0"/>
              </a:rPr>
              <a:t>AU</a:t>
            </a:r>
            <a:r>
              <a:rPr lang="en-US" sz="1200" b="1" dirty="0">
                <a:latin typeface="Arial" panose="020B0604020202020204" pitchFamily="34" charset="0"/>
                <a:ea typeface="Lora" pitchFamily="34" charset="-122"/>
                <a:cs typeface="Arial" panose="020B0604020202020204" pitchFamily="34" charset="0"/>
              </a:rPr>
              <a:t> :</a:t>
            </a:r>
            <a:r>
              <a:rPr lang="en-US" sz="1200" dirty="0">
                <a:latin typeface="Arial" panose="020B0604020202020204" pitchFamily="34" charset="0"/>
                <a:ea typeface="Lora" pitchFamily="34" charset="-122"/>
                <a:cs typeface="Arial" panose="020B0604020202020204" pitchFamily="34" charset="0"/>
              </a:rPr>
              <a:t> 2025-2026</a:t>
            </a:r>
            <a:endParaRPr lang="en-US" sz="1200" dirty="0">
              <a:latin typeface="Arial" panose="020B0604020202020204" pitchFamily="34" charset="0"/>
              <a:cs typeface="Arial" panose="020B0604020202020204" pitchFamily="34" charset="0"/>
            </a:endParaRPr>
          </a:p>
        </p:txBody>
      </p:sp>
      <p:sp>
        <p:nvSpPr>
          <p:cNvPr id="10" name="Rectangle 9"/>
          <p:cNvSpPr/>
          <p:nvPr/>
        </p:nvSpPr>
        <p:spPr>
          <a:xfrm>
            <a:off x="901047" y="4007441"/>
            <a:ext cx="2037737" cy="923330"/>
          </a:xfrm>
          <a:prstGeom prst="rect">
            <a:avLst/>
          </a:prstGeom>
        </p:spPr>
        <p:txBody>
          <a:bodyPr wrap="none">
            <a:spAutoFit/>
          </a:bodyPr>
          <a:lstStyle/>
          <a:p>
            <a:pPr marL="285750" indent="-285750">
              <a:lnSpc>
                <a:spcPct val="150000"/>
              </a:lnSpc>
              <a:buFont typeface="Arial" panose="020B0604020202020204" pitchFamily="34" charset="0"/>
              <a:buChar char="•"/>
            </a:pPr>
            <a:r>
              <a:rPr lang="en-US" sz="1200" dirty="0">
                <a:solidFill>
                  <a:srgbClr val="0F172A"/>
                </a:solidFill>
                <a:latin typeface="Arial" panose="020B0604020202020204" pitchFamily="34" charset="0"/>
                <a:ea typeface="Lora" pitchFamily="34" charset="-122"/>
                <a:cs typeface="Arial" panose="020B0604020202020204" pitchFamily="34" charset="0"/>
              </a:rPr>
              <a:t>OUBEN SAID Ibrahim</a:t>
            </a:r>
            <a:endParaRPr lang="fr-FR" sz="12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fr-FR" sz="1200" dirty="0">
                <a:solidFill>
                  <a:srgbClr val="0F172A"/>
                </a:solidFill>
                <a:latin typeface="Arial" panose="020B0604020202020204" pitchFamily="34" charset="0"/>
                <a:ea typeface="Lora" pitchFamily="34" charset="-122"/>
                <a:cs typeface="Arial" panose="020B0604020202020204" pitchFamily="34" charset="0"/>
              </a:rPr>
              <a:t>AROUK Younes </a:t>
            </a:r>
          </a:p>
          <a:p>
            <a:pPr marL="285750" indent="-285750">
              <a:lnSpc>
                <a:spcPct val="150000"/>
              </a:lnSpc>
              <a:buFont typeface="Arial" panose="020B0604020202020204" pitchFamily="34" charset="0"/>
              <a:buChar char="•"/>
            </a:pPr>
            <a:r>
              <a:rPr lang="fr-FR" sz="1200" dirty="0">
                <a:solidFill>
                  <a:srgbClr val="0F172A"/>
                </a:solidFill>
                <a:latin typeface="Arial" panose="020B0604020202020204" pitchFamily="34" charset="0"/>
                <a:ea typeface="Lora" pitchFamily="34" charset="-122"/>
                <a:cs typeface="Arial" panose="020B0604020202020204" pitchFamily="34" charset="0"/>
              </a:rPr>
              <a:t>EL-GHABED Khalil</a:t>
            </a:r>
          </a:p>
        </p:txBody>
      </p:sp>
      <p:sp>
        <p:nvSpPr>
          <p:cNvPr id="11" name="Rectangle 10"/>
          <p:cNvSpPr/>
          <p:nvPr/>
        </p:nvSpPr>
        <p:spPr>
          <a:xfrm>
            <a:off x="6872288" y="4066675"/>
            <a:ext cx="2550668" cy="335156"/>
          </a:xfrm>
          <a:prstGeom prst="rect">
            <a:avLst/>
          </a:prstGeom>
        </p:spPr>
        <p:txBody>
          <a:bodyPr wrap="square">
            <a:spAutoFit/>
          </a:bodyPr>
          <a:lstStyle/>
          <a:p>
            <a:pPr marL="285750" indent="-285750">
              <a:lnSpc>
                <a:spcPct val="150000"/>
              </a:lnSpc>
              <a:buFont typeface="Arial" panose="020B0604020202020204" pitchFamily="34" charset="0"/>
              <a:buChar char="•"/>
            </a:pPr>
            <a:r>
              <a:rPr lang="en-US" sz="1200" dirty="0">
                <a:solidFill>
                  <a:srgbClr val="0F172A"/>
                </a:solidFill>
                <a:latin typeface="Arial" panose="020B0604020202020204" pitchFamily="34" charset="0"/>
                <a:ea typeface="Lora" pitchFamily="34" charset="-122"/>
                <a:cs typeface="Arial" panose="020B0604020202020204" pitchFamily="34" charset="0"/>
              </a:rPr>
              <a:t>Pr. </a:t>
            </a:r>
            <a:r>
              <a:rPr lang="en-US" sz="1200" dirty="0" err="1">
                <a:solidFill>
                  <a:srgbClr val="0F172A"/>
                </a:solidFill>
                <a:latin typeface="Arial" panose="020B0604020202020204" pitchFamily="34" charset="0"/>
                <a:ea typeface="Lora" pitchFamily="34" charset="-122"/>
                <a:cs typeface="Arial" panose="020B0604020202020204" pitchFamily="34" charset="0"/>
              </a:rPr>
              <a:t>Fannakh</a:t>
            </a:r>
            <a:endParaRPr lang="fr-FR" sz="1200" dirty="0">
              <a:latin typeface="Arial" panose="020B0604020202020204" pitchFamily="34" charset="0"/>
              <a:cs typeface="Arial" panose="020B0604020202020204" pitchFamily="34" charset="0"/>
            </a:endParaRPr>
          </a:p>
        </p:txBody>
      </p:sp>
      <p:pic>
        <p:nvPicPr>
          <p:cNvPr id="12" name="Picture 2" descr="Concours ENSA Berrechid - Dates-concours.ma I Concours Maroc">
            <a:extLst>
              <a:ext uri="{FF2B5EF4-FFF2-40B4-BE49-F238E27FC236}">
                <a16:creationId xmlns:a16="http://schemas.microsoft.com/office/drawing/2014/main" id="{C41E0B79-CE8E-3D3D-0EC5-5B0F9C3AE2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545" t="26575" r="8164" b="21168"/>
          <a:stretch/>
        </p:blipFill>
        <p:spPr bwMode="auto">
          <a:xfrm>
            <a:off x="7208044" y="187530"/>
            <a:ext cx="1717304" cy="6286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Université HASSAN 1er | | Formation Continue">
            <a:extLst>
              <a:ext uri="{FF2B5EF4-FFF2-40B4-BE49-F238E27FC236}">
                <a16:creationId xmlns:a16="http://schemas.microsoft.com/office/drawing/2014/main" id="{7F8F8582-C418-543A-99F5-9355F5E217B4}"/>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7716" t="17545" r="9175" b="19500"/>
          <a:stretch/>
        </p:blipFill>
        <p:spPr bwMode="auto">
          <a:xfrm>
            <a:off x="384949" y="201818"/>
            <a:ext cx="1285876" cy="75075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3">
            <a:extLst>
              <a:ext uri="{FF2B5EF4-FFF2-40B4-BE49-F238E27FC236}">
                <a16:creationId xmlns:a16="http://schemas.microsoft.com/office/drawing/2014/main" id="{D4C92A10-2798-C47F-91EC-919782EBBB32}"/>
              </a:ext>
            </a:extLst>
          </p:cNvPr>
          <p:cNvSpPr txBox="1"/>
          <p:nvPr/>
        </p:nvSpPr>
        <p:spPr>
          <a:xfrm>
            <a:off x="2132409" y="122433"/>
            <a:ext cx="4879182" cy="738664"/>
          </a:xfrm>
          <a:prstGeom prst="rect">
            <a:avLst/>
          </a:prstGeom>
          <a:noFill/>
        </p:spPr>
        <p:txBody>
          <a:bodyPr wrap="square">
            <a:spAutoFit/>
          </a:bodyPr>
          <a:lstStyle/>
          <a:p>
            <a:pPr algn="ctr" defTabSz="619232">
              <a:tabLst>
                <a:tab pos="304241" algn="r"/>
              </a:tabLst>
            </a:pPr>
            <a:r>
              <a:rPr lang="fr-FR" sz="1400" dirty="0">
                <a:latin typeface="Arial" panose="020B0604020202020204" pitchFamily="34" charset="0"/>
                <a:ea typeface="Times New Roman" panose="02020603050405020304" pitchFamily="18" charset="0"/>
                <a:cs typeface="Arial" panose="020B0604020202020204" pitchFamily="34" charset="0"/>
              </a:rPr>
              <a:t>Université Hassan Première</a:t>
            </a:r>
          </a:p>
          <a:p>
            <a:pPr algn="ctr" defTabSz="619232">
              <a:tabLst>
                <a:tab pos="304241" algn="r"/>
              </a:tabLst>
            </a:pPr>
            <a:r>
              <a:rPr lang="fr-FR" sz="1400" dirty="0">
                <a:latin typeface="Arial" panose="020B0604020202020204" pitchFamily="34" charset="0"/>
                <a:cs typeface="Arial" panose="020B0604020202020204" pitchFamily="34" charset="0"/>
              </a:rPr>
              <a:t>Ecole Nationale des Sciences Appliquées </a:t>
            </a:r>
          </a:p>
          <a:p>
            <a:pPr algn="ctr" defTabSz="619232">
              <a:tabLst>
                <a:tab pos="304241" algn="r"/>
              </a:tabLst>
            </a:pPr>
            <a:r>
              <a:rPr lang="fr-FR" sz="1400" dirty="0" err="1">
                <a:latin typeface="Arial" panose="020B0604020202020204" pitchFamily="34" charset="0"/>
                <a:cs typeface="Arial" panose="020B0604020202020204" pitchFamily="34" charset="0"/>
              </a:rPr>
              <a:t>Berrechid</a:t>
            </a:r>
            <a:endParaRPr lang="fr-FR" sz="1400" dirty="0">
              <a:latin typeface="Arial" panose="020B0604020202020204" pitchFamily="34" charset="0"/>
              <a:cs typeface="Arial" panose="020B0604020202020204" pitchFamily="34" charset="0"/>
            </a:endParaRPr>
          </a:p>
        </p:txBody>
      </p:sp>
      <p:pic>
        <p:nvPicPr>
          <p:cNvPr id="1028" name="Picture 4" descr="Les principaux composants du système de freinage des véhicules électriques  - carniger.co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8423" y="1802410"/>
            <a:ext cx="3544140" cy="186626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6" name="Rectangle 15"/>
          <p:cNvSpPr/>
          <p:nvPr/>
        </p:nvSpPr>
        <p:spPr>
          <a:xfrm>
            <a:off x="1710928" y="984664"/>
            <a:ext cx="5722144" cy="335156"/>
          </a:xfrm>
          <a:prstGeom prst="rect">
            <a:avLst/>
          </a:prstGeom>
        </p:spPr>
        <p:txBody>
          <a:bodyPr wrap="square">
            <a:spAutoFit/>
          </a:bodyPr>
          <a:lstStyle/>
          <a:p>
            <a:pPr algn="ctr">
              <a:lnSpc>
                <a:spcPct val="150000"/>
              </a:lnSpc>
            </a:pPr>
            <a:r>
              <a:rPr lang="fr-FR" sz="1200" b="1" dirty="0">
                <a:latin typeface="Arial" panose="020B0604020202020204" pitchFamily="34" charset="0"/>
                <a:ea typeface="Times New Roman" panose="02020603050405020304" pitchFamily="18" charset="0"/>
                <a:cs typeface="Arial" panose="020B0604020202020204" pitchFamily="34" charset="0"/>
              </a:rPr>
              <a:t>Cycle ingénieur : </a:t>
            </a:r>
            <a:r>
              <a:rPr lang="fr-FR" sz="1200" dirty="0">
                <a:latin typeface="Arial" panose="020B0604020202020204" pitchFamily="34" charset="0"/>
                <a:ea typeface="Times New Roman" panose="02020603050405020304" pitchFamily="18" charset="0"/>
                <a:cs typeface="Arial" panose="020B0604020202020204" pitchFamily="34" charset="0"/>
              </a:rPr>
              <a:t>Automobile et Solutions Digitales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104900" y="662686"/>
            <a:ext cx="915956" cy="233205"/>
          </a:xfrm>
          <a:prstGeom prst="rect">
            <a:avLst/>
          </a:prstGeom>
          <a:noFill/>
          <a:ln/>
        </p:spPr>
        <p:txBody>
          <a:bodyPr wrap="none" lIns="0" tIns="0" rIns="0" bIns="0" rtlCol="0" anchor="t">
            <a:spAutoFit/>
          </a:bodyPr>
          <a:lstStyle/>
          <a:p>
            <a:pPr>
              <a:lnSpc>
                <a:spcPts val="1600"/>
              </a:lnSpc>
            </a:pPr>
            <a:r>
              <a:rPr lang="en-US" sz="2400" b="1" kern="0" spc="1" dirty="0">
                <a:solidFill>
                  <a:srgbClr val="0F172A"/>
                </a:solidFill>
                <a:latin typeface="Times New Roman" panose="02020603050405020304" pitchFamily="18" charset="0"/>
                <a:ea typeface="Montserrat" pitchFamily="34" charset="-122"/>
                <a:cs typeface="Times New Roman" panose="02020603050405020304" pitchFamily="18" charset="0"/>
              </a:rPr>
              <a:t>PLAN </a:t>
            </a:r>
            <a:endParaRPr lang="en-US" sz="2400" dirty="0"/>
          </a:p>
        </p:txBody>
      </p:sp>
      <p:sp>
        <p:nvSpPr>
          <p:cNvPr id="5" name="Shape 2"/>
          <p:cNvSpPr/>
          <p:nvPr/>
        </p:nvSpPr>
        <p:spPr>
          <a:xfrm>
            <a:off x="947736" y="568701"/>
            <a:ext cx="85725" cy="246639"/>
          </a:xfrm>
          <a:prstGeom prst="rect">
            <a:avLst/>
          </a:prstGeom>
          <a:solidFill>
            <a:srgbClr val="DC2626"/>
          </a:solidFill>
          <a:ln/>
        </p:spPr>
        <p:txBody>
          <a:bodyPr/>
          <a:lstStyle/>
          <a:p>
            <a:endParaRPr lang="en-US"/>
          </a:p>
        </p:txBody>
      </p:sp>
      <p:sp>
        <p:nvSpPr>
          <p:cNvPr id="2" name="Rectangle 1">
            <a:extLst>
              <a:ext uri="{FF2B5EF4-FFF2-40B4-BE49-F238E27FC236}">
                <a16:creationId xmlns:a16="http://schemas.microsoft.com/office/drawing/2014/main" id="{579D50B4-2E47-EC19-1883-E9C955703A83}"/>
              </a:ext>
            </a:extLst>
          </p:cNvPr>
          <p:cNvSpPr/>
          <p:nvPr/>
        </p:nvSpPr>
        <p:spPr>
          <a:xfrm>
            <a:off x="2512128" y="1342078"/>
            <a:ext cx="5012912" cy="4310726"/>
          </a:xfrm>
          <a:prstGeom prst="rect">
            <a:avLst/>
          </a:prstGeom>
        </p:spPr>
        <p:txBody>
          <a:bodyPr wrap="square" lIns="91434" tIns="45717" rIns="91434" bIns="45717">
            <a:spAutoFit/>
          </a:bodyPr>
          <a:lstStyle/>
          <a:p>
            <a:pPr marL="457200" indent="-457200">
              <a:lnSpc>
                <a:spcPct val="150000"/>
              </a:lnSpc>
              <a:buFont typeface="+mj-lt"/>
              <a:buAutoNum type="arabicPeriod"/>
              <a:defRPr/>
            </a:pPr>
            <a:r>
              <a:rPr lang="en-US" b="1" dirty="0"/>
              <a:t>Introduction et </a:t>
            </a:r>
            <a:r>
              <a:rPr lang="en-US" b="1" dirty="0" err="1"/>
              <a:t>Objectifs</a:t>
            </a:r>
            <a:endParaRPr lang="en-US" b="1" dirty="0"/>
          </a:p>
          <a:p>
            <a:pPr marL="457200" indent="-457200">
              <a:lnSpc>
                <a:spcPct val="150000"/>
              </a:lnSpc>
              <a:buFont typeface="+mj-lt"/>
              <a:buAutoNum type="arabicPeriod"/>
              <a:defRPr/>
            </a:pPr>
            <a:r>
              <a:rPr lang="en-US" b="1" dirty="0"/>
              <a:t>Architecture du Système</a:t>
            </a:r>
          </a:p>
          <a:p>
            <a:pPr marL="457200" indent="-457200">
              <a:lnSpc>
                <a:spcPct val="150000"/>
              </a:lnSpc>
              <a:buFont typeface="+mj-lt"/>
              <a:buAutoNum type="arabicPeriod"/>
              <a:defRPr/>
            </a:pPr>
            <a:r>
              <a:rPr lang="en-US" b="1" dirty="0" err="1"/>
              <a:t>Modélisation</a:t>
            </a:r>
            <a:r>
              <a:rPr lang="en-US" b="1" dirty="0"/>
              <a:t> </a:t>
            </a:r>
            <a:r>
              <a:rPr lang="en-US" b="1" dirty="0" err="1"/>
              <a:t>Mathématique</a:t>
            </a:r>
            <a:endParaRPr lang="en-US" b="1" dirty="0"/>
          </a:p>
          <a:p>
            <a:pPr marL="457200" indent="-457200">
              <a:lnSpc>
                <a:spcPct val="150000"/>
              </a:lnSpc>
              <a:buFont typeface="+mj-lt"/>
              <a:buAutoNum type="arabicPeriod"/>
              <a:defRPr/>
            </a:pPr>
            <a:r>
              <a:rPr lang="en-US" b="1" dirty="0" err="1"/>
              <a:t>Stratégie</a:t>
            </a:r>
            <a:r>
              <a:rPr lang="en-US" b="1" dirty="0"/>
              <a:t> de </a:t>
            </a:r>
            <a:r>
              <a:rPr lang="en-US" b="1" dirty="0" err="1"/>
              <a:t>Commande</a:t>
            </a:r>
            <a:endParaRPr lang="en-US" b="1" dirty="0"/>
          </a:p>
          <a:p>
            <a:pPr marL="457200" indent="-457200">
              <a:lnSpc>
                <a:spcPct val="150000"/>
              </a:lnSpc>
              <a:buFont typeface="+mj-lt"/>
              <a:buAutoNum type="arabicPeriod"/>
              <a:defRPr/>
            </a:pPr>
            <a:r>
              <a:rPr lang="en-US" b="1" dirty="0" err="1"/>
              <a:t>Résultats</a:t>
            </a:r>
            <a:r>
              <a:rPr lang="en-US" b="1" dirty="0"/>
              <a:t> de Simulation</a:t>
            </a:r>
          </a:p>
          <a:p>
            <a:pPr marL="457200" indent="-457200">
              <a:lnSpc>
                <a:spcPct val="150000"/>
              </a:lnSpc>
              <a:buFont typeface="+mj-lt"/>
              <a:buAutoNum type="arabicPeriod"/>
              <a:defRPr/>
            </a:pPr>
            <a:r>
              <a:rPr lang="en-US" b="1" dirty="0"/>
              <a:t>Validation sur </a:t>
            </a:r>
            <a:r>
              <a:rPr lang="en-US" b="1" dirty="0" err="1"/>
              <a:t>Modèle</a:t>
            </a:r>
            <a:r>
              <a:rPr lang="en-US" b="1" dirty="0"/>
              <a:t> </a:t>
            </a:r>
            <a:r>
              <a:rPr lang="en-US" b="1" dirty="0" err="1"/>
              <a:t>Réel</a:t>
            </a:r>
            <a:endParaRPr lang="en-US" b="1" dirty="0"/>
          </a:p>
          <a:p>
            <a:pPr marL="457200" indent="-457200">
              <a:lnSpc>
                <a:spcPct val="150000"/>
              </a:lnSpc>
              <a:buFont typeface="+mj-lt"/>
              <a:buAutoNum type="arabicPeriod"/>
              <a:defRPr/>
            </a:pPr>
            <a:r>
              <a:rPr lang="en-US" b="1" dirty="0"/>
              <a:t>Conclusion et Perspectives</a:t>
            </a:r>
          </a:p>
          <a:p>
            <a:pPr marL="457200" indent="-457200">
              <a:lnSpc>
                <a:spcPct val="150000"/>
              </a:lnSpc>
              <a:buFont typeface="+mj-lt"/>
              <a:buAutoNum type="arabicPeriod"/>
              <a:defRPr/>
            </a:pPr>
            <a:endParaRPr lang="en-US" b="1" dirty="0"/>
          </a:p>
          <a:p>
            <a:pPr marL="457200" indent="-457200">
              <a:lnSpc>
                <a:spcPct val="150000"/>
              </a:lnSpc>
              <a:buFont typeface="+mj-lt"/>
              <a:buAutoNum type="arabicPeriod"/>
              <a:defRPr/>
            </a:pPr>
            <a:endParaRPr lang="en-US" b="1" dirty="0"/>
          </a:p>
          <a:p>
            <a:pPr marL="457200" indent="-457200">
              <a:lnSpc>
                <a:spcPct val="150000"/>
              </a:lnSpc>
              <a:buFont typeface="+mj-lt"/>
              <a:buAutoNum type="arabicPeriod"/>
              <a:defRPr/>
            </a:pPr>
            <a:endParaRPr lang="fr-FR" sz="2400" b="1" dirty="0">
              <a:solidFill>
                <a:srgbClr val="002060"/>
              </a:solidFill>
              <a:latin typeface="Agency FB" panose="020B0503020202020204" pitchFamily="34" charset="0"/>
              <a:ea typeface=""/>
              <a:cs typefac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9E44-E96A-1041-53EC-03830789361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BE37485-7B4E-C937-03DF-2133BC5C55C4}"/>
              </a:ext>
            </a:extLst>
          </p:cNvPr>
          <p:cNvSpPr/>
          <p:nvPr/>
        </p:nvSpPr>
        <p:spPr>
          <a:xfrm>
            <a:off x="571500" y="658341"/>
            <a:ext cx="4824911" cy="205184"/>
          </a:xfrm>
          <a:prstGeom prst="rect">
            <a:avLst/>
          </a:prstGeom>
          <a:noFill/>
          <a:ln/>
        </p:spPr>
        <p:txBody>
          <a:bodyPr wrap="none" lIns="0" tIns="0" rIns="0" bIns="0" rtlCol="0" anchor="t">
            <a:spAutoFit/>
          </a:bodyPr>
          <a:lstStyle/>
          <a:p>
            <a:pPr>
              <a:lnSpc>
                <a:spcPts val="1600"/>
              </a:lnSpc>
            </a:pPr>
            <a:r>
              <a:rPr lang="en-US" sz="2400" b="1" kern="0" spc="1" dirty="0">
                <a:solidFill>
                  <a:srgbClr val="0F172A"/>
                </a:solidFill>
                <a:latin typeface="Times New Roman" panose="02020603050405020304" pitchFamily="18" charset="0"/>
                <a:ea typeface="Montserrat" pitchFamily="34" charset="-122"/>
                <a:cs typeface="Times New Roman" panose="02020603050405020304" pitchFamily="18" charset="0"/>
              </a:rPr>
              <a:t>CONTEXTE</a:t>
            </a:r>
            <a:r>
              <a:rPr lang="en-US" sz="2400" b="1" kern="0" spc="1" dirty="0">
                <a:solidFill>
                  <a:srgbClr val="0F172A"/>
                </a:solidFill>
                <a:latin typeface="Montserrat" pitchFamily="34" charset="0"/>
                <a:ea typeface="Montserrat" pitchFamily="34" charset="-122"/>
                <a:cs typeface="Montserrat" pitchFamily="34" charset="-120"/>
              </a:rPr>
              <a:t> &amp; PROBLÉMATIQUE</a:t>
            </a:r>
            <a:endParaRPr lang="en-US" sz="2400" dirty="0"/>
          </a:p>
        </p:txBody>
      </p:sp>
      <p:sp>
        <p:nvSpPr>
          <p:cNvPr id="4" name="Text 1">
            <a:extLst>
              <a:ext uri="{FF2B5EF4-FFF2-40B4-BE49-F238E27FC236}">
                <a16:creationId xmlns:a16="http://schemas.microsoft.com/office/drawing/2014/main" id="{D19639FE-3DE6-5C2A-3ABF-8726078E77F2}"/>
              </a:ext>
            </a:extLst>
          </p:cNvPr>
          <p:cNvSpPr/>
          <p:nvPr/>
        </p:nvSpPr>
        <p:spPr>
          <a:xfrm>
            <a:off x="628650" y="1397301"/>
            <a:ext cx="1078629" cy="208006"/>
          </a:xfrm>
          <a:prstGeom prst="rect">
            <a:avLst/>
          </a:prstGeom>
          <a:noFill/>
          <a:ln/>
        </p:spPr>
        <p:txBody>
          <a:bodyPr wrap="none" lIns="0" tIns="0" rIns="0" bIns="0" rtlCol="0" anchor="t">
            <a:spAutoFit/>
          </a:bodyPr>
          <a:lstStyle/>
          <a:p>
            <a:pPr marL="0" indent="0" algn="l">
              <a:lnSpc>
                <a:spcPts val="1600"/>
              </a:lnSpc>
              <a:buNone/>
            </a:pPr>
            <a:r>
              <a:rPr lang="en-US" b="1" kern="0" spc="1" dirty="0" err="1">
                <a:solidFill>
                  <a:srgbClr val="0F172A"/>
                </a:solidFill>
                <a:latin typeface="Times New Roman" panose="02020603050405020304" pitchFamily="18" charset="0"/>
                <a:ea typeface="Montserrat" pitchFamily="34" charset="-122"/>
                <a:cs typeface="Times New Roman" panose="02020603050405020304" pitchFamily="18" charset="0"/>
              </a:rPr>
              <a:t>Contexte</a:t>
            </a:r>
            <a:r>
              <a:rPr lang="en-US" b="1" kern="0" spc="1" dirty="0">
                <a:solidFill>
                  <a:srgbClr val="0F172A"/>
                </a:solidFill>
                <a:latin typeface="Times New Roman" panose="02020603050405020304" pitchFamily="18" charset="0"/>
                <a:ea typeface="Montserrat" pitchFamily="34" charset="-122"/>
                <a:cs typeface="Times New Roman" panose="02020603050405020304" pitchFamily="18" charset="0"/>
              </a:rPr>
              <a:t> : </a:t>
            </a:r>
            <a:endParaRPr lang="en-US" dirty="0">
              <a:latin typeface="Times New Roman" panose="02020603050405020304" pitchFamily="18" charset="0"/>
              <a:cs typeface="Times New Roman" panose="02020603050405020304" pitchFamily="18" charset="0"/>
            </a:endParaRPr>
          </a:p>
        </p:txBody>
      </p:sp>
      <p:sp>
        <p:nvSpPr>
          <p:cNvPr id="5" name="Shape 2">
            <a:extLst>
              <a:ext uri="{FF2B5EF4-FFF2-40B4-BE49-F238E27FC236}">
                <a16:creationId xmlns:a16="http://schemas.microsoft.com/office/drawing/2014/main" id="{68D367FD-1A4D-E099-3F88-C71590C1C207}"/>
              </a:ext>
            </a:extLst>
          </p:cNvPr>
          <p:cNvSpPr/>
          <p:nvPr/>
        </p:nvSpPr>
        <p:spPr>
          <a:xfrm>
            <a:off x="414336" y="564356"/>
            <a:ext cx="85725" cy="246639"/>
          </a:xfrm>
          <a:prstGeom prst="rect">
            <a:avLst/>
          </a:prstGeom>
          <a:solidFill>
            <a:srgbClr val="DC2626"/>
          </a:solidFill>
          <a:ln/>
        </p:spPr>
        <p:txBody>
          <a:bodyPr/>
          <a:lstStyle/>
          <a:p>
            <a:endParaRPr lang="en-US"/>
          </a:p>
        </p:txBody>
      </p:sp>
      <p:sp>
        <p:nvSpPr>
          <p:cNvPr id="18" name="Rectangle 17">
            <a:extLst>
              <a:ext uri="{FF2B5EF4-FFF2-40B4-BE49-F238E27FC236}">
                <a16:creationId xmlns:a16="http://schemas.microsoft.com/office/drawing/2014/main" id="{6D563EB4-2D72-0850-5967-DAB609A5104B}"/>
              </a:ext>
            </a:extLst>
          </p:cNvPr>
          <p:cNvSpPr/>
          <p:nvPr/>
        </p:nvSpPr>
        <p:spPr>
          <a:xfrm>
            <a:off x="835818" y="1621040"/>
            <a:ext cx="8159095" cy="1200329"/>
          </a:xfrm>
          <a:prstGeom prst="rect">
            <a:avLst/>
          </a:prstGeom>
        </p:spPr>
        <p:txBody>
          <a:bodyPr wrap="square">
            <a:spAutoFit/>
          </a:bodyPr>
          <a:lstStyle/>
          <a:p>
            <a:pPr algn="just"/>
            <a:r>
              <a:rPr lang="fr-FR" dirty="0"/>
              <a:t>Dans les véhicules classiques, l’énergie cinétique produite pendant le mouvement est perdue lors du freinage sous forme de chaleur. Dans notre projet, nous cherchons à exploiter cette énergie grâce au freinage régénératif. Le défi est donc de maximiser la récupération d’énergie sans compromettre la performance et la sécurité du freinage.</a:t>
            </a:r>
            <a:endParaRPr lang="en-US" dirty="0"/>
          </a:p>
        </p:txBody>
      </p:sp>
      <p:sp>
        <p:nvSpPr>
          <p:cNvPr id="19" name="Rectangle 18">
            <a:extLst>
              <a:ext uri="{FF2B5EF4-FFF2-40B4-BE49-F238E27FC236}">
                <a16:creationId xmlns:a16="http://schemas.microsoft.com/office/drawing/2014/main" id="{71A2377E-6FF3-34C4-4BEB-B9776F2310C5}"/>
              </a:ext>
            </a:extLst>
          </p:cNvPr>
          <p:cNvSpPr/>
          <p:nvPr/>
        </p:nvSpPr>
        <p:spPr>
          <a:xfrm>
            <a:off x="628650" y="3051642"/>
            <a:ext cx="1770356" cy="300339"/>
          </a:xfrm>
          <a:prstGeom prst="rect">
            <a:avLst/>
          </a:prstGeom>
        </p:spPr>
        <p:txBody>
          <a:bodyPr wrap="none">
            <a:spAutoFit/>
          </a:bodyPr>
          <a:lstStyle/>
          <a:p>
            <a:pPr>
              <a:lnSpc>
                <a:spcPts val="1600"/>
              </a:lnSpc>
            </a:pPr>
            <a:r>
              <a:rPr lang="en-US" b="1" kern="0" spc="1" dirty="0" err="1">
                <a:solidFill>
                  <a:srgbClr val="0F172A"/>
                </a:solidFill>
                <a:latin typeface="Times New Roman" panose="02020603050405020304" pitchFamily="18" charset="0"/>
                <a:ea typeface="Montserrat" pitchFamily="34" charset="-122"/>
                <a:cs typeface="Times New Roman" panose="02020603050405020304" pitchFamily="18" charset="0"/>
              </a:rPr>
              <a:t>Problématique</a:t>
            </a:r>
            <a:r>
              <a:rPr lang="en-US" b="1" kern="0" spc="1" dirty="0">
                <a:solidFill>
                  <a:srgbClr val="0F172A"/>
                </a:solidFill>
                <a:latin typeface="Times New Roman" panose="02020603050405020304" pitchFamily="18" charset="0"/>
                <a:ea typeface="Montserrat"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778EBD53-8180-09AA-D80F-D8EADEFEE721}"/>
              </a:ext>
            </a:extLst>
          </p:cNvPr>
          <p:cNvSpPr/>
          <p:nvPr/>
        </p:nvSpPr>
        <p:spPr>
          <a:xfrm>
            <a:off x="835818" y="3351981"/>
            <a:ext cx="7300913" cy="1469120"/>
          </a:xfrm>
          <a:prstGeom prst="rect">
            <a:avLst/>
          </a:prstGeom>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En freinage classique, l’énergie cinétique est dissipée sous forme de chaleur</a:t>
            </a:r>
            <a:endParaRPr lang="en-US" kern="100" dirty="0">
              <a:latin typeface="Times New Roman" panose="02020603050405020304" pitchFamily="18" charset="0"/>
              <a:ea typeface="Aptos"/>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Comment récupérer une partie de cette énergie tout en garantissant la sécurité ?</a:t>
            </a:r>
            <a:endParaRPr lang="en-US"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201030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8"/>
          <p:cNvSpPr/>
          <p:nvPr/>
        </p:nvSpPr>
        <p:spPr>
          <a:xfrm>
            <a:off x="414336" y="1232224"/>
            <a:ext cx="1731243" cy="276999"/>
          </a:xfrm>
          <a:prstGeom prst="rect">
            <a:avLst/>
          </a:prstGeom>
          <a:noFill/>
          <a:ln/>
        </p:spPr>
        <p:txBody>
          <a:bodyPr wrap="none" lIns="0" tIns="0" rIns="0" bIns="0" rtlCol="0" anchor="t">
            <a:spAutoFit/>
          </a:bodyPr>
          <a:lstStyle/>
          <a:p>
            <a:r>
              <a:rPr lang="fr-FR" b="1" dirty="0">
                <a:latin typeface="Times New Roman" panose="02020603050405020304" pitchFamily="18" charset="0"/>
                <a:cs typeface="Times New Roman" panose="02020603050405020304" pitchFamily="18" charset="0"/>
              </a:rPr>
              <a:t>Objectif </a:t>
            </a:r>
            <a:r>
              <a:rPr lang="fr-FR" b="1" dirty="0" err="1">
                <a:latin typeface="Times New Roman" panose="02020603050405020304" pitchFamily="18" charset="0"/>
                <a:cs typeface="Times New Roman" panose="02020603050405020304" pitchFamily="18" charset="0"/>
              </a:rPr>
              <a:t>géneral</a:t>
            </a:r>
            <a:r>
              <a:rPr lang="fr-FR" b="1" dirty="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p:txBody>
      </p:sp>
      <p:sp>
        <p:nvSpPr>
          <p:cNvPr id="4" name="Text 10"/>
          <p:cNvSpPr/>
          <p:nvPr/>
        </p:nvSpPr>
        <p:spPr>
          <a:xfrm>
            <a:off x="414336" y="1687817"/>
            <a:ext cx="7458077" cy="276999"/>
          </a:xfrm>
          <a:prstGeom prst="rect">
            <a:avLst/>
          </a:prstGeom>
          <a:noFill/>
          <a:ln/>
        </p:spPr>
        <p:txBody>
          <a:bodyPr wrap="square" lIns="255143" tIns="0" rIns="0" bIns="0" rtlCol="0" anchor="t">
            <a:spAutoFit/>
          </a:bodyPr>
          <a:lstStyle/>
          <a:p>
            <a:pPr marL="285750" lvl="0"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Concevoir une stratégie de freinage régénératif sous MATLAB/Simulink</a:t>
            </a:r>
            <a:endParaRPr lang="en-US" dirty="0">
              <a:latin typeface="Times New Roman" panose="02020603050405020304" pitchFamily="18" charset="0"/>
              <a:cs typeface="Times New Roman" panose="02020603050405020304" pitchFamily="18" charset="0"/>
            </a:endParaRPr>
          </a:p>
        </p:txBody>
      </p:sp>
      <p:sp>
        <p:nvSpPr>
          <p:cNvPr id="5" name="Text 12"/>
          <p:cNvSpPr/>
          <p:nvPr/>
        </p:nvSpPr>
        <p:spPr>
          <a:xfrm>
            <a:off x="2400298" y="4687216"/>
            <a:ext cx="257699" cy="208647"/>
          </a:xfrm>
          <a:prstGeom prst="rect">
            <a:avLst/>
          </a:prstGeom>
          <a:noFill/>
          <a:ln/>
        </p:spPr>
        <p:txBody>
          <a:bodyPr wrap="none" lIns="255143" tIns="0" rIns="0" bIns="0" rtlCol="0" anchor="t">
            <a:spAutoFit/>
          </a:bodyPr>
          <a:lstStyle/>
          <a:p>
            <a:pPr marL="0" indent="0" algn="l">
              <a:lnSpc>
                <a:spcPts val="1800"/>
              </a:lnSpc>
              <a:buNone/>
            </a:pPr>
            <a:endParaRPr lang="en-US" sz="1050" dirty="0"/>
          </a:p>
        </p:txBody>
      </p:sp>
      <p:sp>
        <p:nvSpPr>
          <p:cNvPr id="8" name="Text 0"/>
          <p:cNvSpPr/>
          <p:nvPr/>
        </p:nvSpPr>
        <p:spPr>
          <a:xfrm>
            <a:off x="571500" y="658341"/>
            <a:ext cx="3575531" cy="232756"/>
          </a:xfrm>
          <a:prstGeom prst="rect">
            <a:avLst/>
          </a:prstGeom>
          <a:noFill/>
          <a:ln/>
        </p:spPr>
        <p:txBody>
          <a:bodyPr wrap="none" lIns="0" tIns="0" rIns="0" bIns="0" rtlCol="0" anchor="t">
            <a:spAutoFit/>
          </a:bodyPr>
          <a:lstStyle/>
          <a:p>
            <a:pPr>
              <a:lnSpc>
                <a:spcPts val="1600"/>
              </a:lnSpc>
            </a:pPr>
            <a:r>
              <a:rPr lang="en-US" sz="2400" b="1" kern="0" spc="1" dirty="0">
                <a:solidFill>
                  <a:srgbClr val="0F172A"/>
                </a:solidFill>
                <a:latin typeface="Times New Roman" panose="02020603050405020304" pitchFamily="18" charset="0"/>
                <a:ea typeface="Montserrat" pitchFamily="34" charset="-122"/>
                <a:cs typeface="Times New Roman" panose="02020603050405020304" pitchFamily="18" charset="0"/>
              </a:rPr>
              <a:t>OBJECTIFS DU PROJET</a:t>
            </a:r>
            <a:endParaRPr lang="en-US" sz="2400" dirty="0">
              <a:latin typeface="Times New Roman" panose="02020603050405020304" pitchFamily="18" charset="0"/>
              <a:cs typeface="Times New Roman" panose="02020603050405020304" pitchFamily="18" charset="0"/>
            </a:endParaRPr>
          </a:p>
        </p:txBody>
      </p:sp>
      <p:sp>
        <p:nvSpPr>
          <p:cNvPr id="9" name="Shape 2"/>
          <p:cNvSpPr/>
          <p:nvPr/>
        </p:nvSpPr>
        <p:spPr>
          <a:xfrm>
            <a:off x="414336" y="564356"/>
            <a:ext cx="85725" cy="246639"/>
          </a:xfrm>
          <a:prstGeom prst="rect">
            <a:avLst/>
          </a:prstGeom>
          <a:solidFill>
            <a:srgbClr val="DC2626"/>
          </a:solidFill>
          <a:ln/>
        </p:spPr>
        <p:txBody>
          <a:bodyPr/>
          <a:lstStyle/>
          <a:p>
            <a:endParaRPr lang="en-US"/>
          </a:p>
        </p:txBody>
      </p:sp>
      <p:sp>
        <p:nvSpPr>
          <p:cNvPr id="12" name="Text 8"/>
          <p:cNvSpPr/>
          <p:nvPr/>
        </p:nvSpPr>
        <p:spPr>
          <a:xfrm>
            <a:off x="414334" y="2143841"/>
            <a:ext cx="2077492" cy="276999"/>
          </a:xfrm>
          <a:prstGeom prst="rect">
            <a:avLst/>
          </a:prstGeom>
          <a:noFill/>
          <a:ln/>
        </p:spPr>
        <p:txBody>
          <a:bodyPr wrap="none" lIns="0" tIns="0" rIns="0" bIns="0" rtlCol="0" anchor="t">
            <a:spAutoFit/>
          </a:bodyPr>
          <a:lstStyle/>
          <a:p>
            <a:r>
              <a:rPr lang="fr-FR" b="1" dirty="0">
                <a:latin typeface="Times New Roman" panose="02020603050405020304" pitchFamily="18" charset="0"/>
                <a:cs typeface="Times New Roman" panose="02020603050405020304" pitchFamily="18" charset="0"/>
              </a:rPr>
              <a:t>Objectif spécifiques :</a:t>
            </a:r>
            <a:endParaRPr lang="fr-FR" dirty="0">
              <a:latin typeface="Times New Roman" panose="02020603050405020304" pitchFamily="18" charset="0"/>
              <a:cs typeface="Times New Roman" panose="02020603050405020304" pitchFamily="18" charset="0"/>
            </a:endParaRPr>
          </a:p>
        </p:txBody>
      </p:sp>
      <p:sp>
        <p:nvSpPr>
          <p:cNvPr id="13" name="Rectangle 12"/>
          <p:cNvSpPr/>
          <p:nvPr/>
        </p:nvSpPr>
        <p:spPr>
          <a:xfrm>
            <a:off x="571500" y="2512443"/>
            <a:ext cx="6922294" cy="2062103"/>
          </a:xfrm>
          <a:prstGeom prst="rect">
            <a:avLst/>
          </a:prstGeom>
        </p:spPr>
        <p:txBody>
          <a:bodyPr wrap="square">
            <a:spAutoFit/>
          </a:bodyPr>
          <a:lstStyle/>
          <a:p>
            <a:pPr marL="342900" lvl="0" indent="-342900">
              <a:lnSpc>
                <a:spcPct val="150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Maximiser la récupération d’énergie</a:t>
            </a:r>
          </a:p>
          <a:p>
            <a:pPr marL="342900" lvl="0" indent="-342900">
              <a:lnSpc>
                <a:spcPct val="150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Assurer la coordination entre freinage électrique et mécanique</a:t>
            </a:r>
            <a:endParaRPr lang="en-US" kern="100" dirty="0">
              <a:latin typeface="Times New Roman" panose="02020603050405020304" pitchFamily="18" charset="0"/>
              <a:ea typeface="Aptos"/>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Respecter les contraintes batterie</a:t>
            </a:r>
          </a:p>
          <a:p>
            <a:pPr marL="342900" lvl="0" indent="-342900">
              <a:lnSpc>
                <a:spcPct val="150000"/>
              </a:lnSpc>
              <a:spcAft>
                <a:spcPts val="800"/>
              </a:spcAft>
              <a:buSzPts val="1000"/>
              <a:buFont typeface="Symbol" panose="05050102010706020507" pitchFamily="18" charset="2"/>
              <a:buChar char=""/>
              <a:tabLst>
                <a:tab pos="457200" algn="l"/>
              </a:tabLst>
            </a:pPr>
            <a:r>
              <a:rPr lang="fr-FR" kern="100" dirty="0">
                <a:latin typeface="Times New Roman" panose="02020603050405020304" pitchFamily="18" charset="0"/>
                <a:ea typeface="Aptos"/>
                <a:cs typeface="Times New Roman" panose="02020603050405020304" pitchFamily="18" charset="0"/>
              </a:rPr>
              <a:t>Garantir la sécurité et la stabilité du véhicule</a:t>
            </a:r>
            <a:endParaRPr lang="en-US"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2123060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342900" y="1381634"/>
            <a:ext cx="2007394" cy="1291289"/>
          </a:xfrm>
          <a:prstGeom prst="rect">
            <a:avLst/>
          </a:prstGeom>
          <a:solidFill>
            <a:srgbClr val="FFFFFF"/>
          </a:solidFill>
          <a:ln w="18288">
            <a:solidFill>
              <a:srgbClr val="0F2537"/>
            </a:solidFill>
            <a:prstDash val="solid"/>
          </a:ln>
        </p:spPr>
        <p:txBody>
          <a:bodyPr/>
          <a:lstStyle/>
          <a:p>
            <a:endParaRPr lang="en-US"/>
          </a:p>
        </p:txBody>
      </p:sp>
      <p:pic>
        <p:nvPicPr>
          <p:cNvPr id="7" name="Image 2" descr="preencoded.png"/>
          <p:cNvPicPr>
            <a:picLocks noChangeAspect="1"/>
          </p:cNvPicPr>
          <p:nvPr/>
        </p:nvPicPr>
        <p:blipFill>
          <a:blip r:embed="rId3"/>
          <a:stretch>
            <a:fillRect/>
          </a:stretch>
        </p:blipFill>
        <p:spPr>
          <a:xfrm>
            <a:off x="471488" y="1637257"/>
            <a:ext cx="228600" cy="182881"/>
          </a:xfrm>
          <a:prstGeom prst="rect">
            <a:avLst/>
          </a:prstGeom>
        </p:spPr>
      </p:pic>
      <p:sp>
        <p:nvSpPr>
          <p:cNvPr id="8" name="Text 3"/>
          <p:cNvSpPr/>
          <p:nvPr/>
        </p:nvSpPr>
        <p:spPr>
          <a:xfrm>
            <a:off x="739378" y="1640650"/>
            <a:ext cx="631583" cy="192360"/>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00A86B"/>
                </a:solidFill>
                <a:latin typeface="Times New Roman" panose="02020603050405020304" pitchFamily="18" charset="0"/>
                <a:ea typeface="Space Grotesk" pitchFamily="34" charset="-122"/>
                <a:cs typeface="Times New Roman" panose="02020603050405020304" pitchFamily="18" charset="0"/>
              </a:rPr>
              <a:t>ENTRÉE</a:t>
            </a:r>
            <a:endParaRPr lang="en-US" sz="1200" dirty="0">
              <a:latin typeface="Times New Roman" panose="02020603050405020304" pitchFamily="18" charset="0"/>
              <a:cs typeface="Times New Roman" panose="02020603050405020304" pitchFamily="18" charset="0"/>
            </a:endParaRPr>
          </a:p>
        </p:txBody>
      </p:sp>
      <p:sp>
        <p:nvSpPr>
          <p:cNvPr id="9" name="Text 4"/>
          <p:cNvSpPr/>
          <p:nvPr/>
        </p:nvSpPr>
        <p:spPr>
          <a:xfrm>
            <a:off x="471488" y="1928186"/>
            <a:ext cx="872483" cy="141064"/>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0F2537"/>
                </a:solidFill>
                <a:latin typeface="Times New Roman" panose="02020603050405020304" pitchFamily="18" charset="0"/>
                <a:ea typeface="Playfair Display" pitchFamily="34" charset="-122"/>
                <a:cs typeface="Times New Roman" panose="02020603050405020304" pitchFamily="18" charset="0"/>
              </a:rPr>
              <a:t>Conducteur :</a:t>
            </a:r>
            <a:endParaRPr lang="en-US" sz="1200" dirty="0">
              <a:latin typeface="Times New Roman" panose="02020603050405020304" pitchFamily="18" charset="0"/>
              <a:cs typeface="Times New Roman" panose="02020603050405020304" pitchFamily="18" charset="0"/>
            </a:endParaRPr>
          </a:p>
        </p:txBody>
      </p:sp>
      <p:sp>
        <p:nvSpPr>
          <p:cNvPr id="10" name="Text 5"/>
          <p:cNvSpPr/>
          <p:nvPr/>
        </p:nvSpPr>
        <p:spPr>
          <a:xfrm>
            <a:off x="471488" y="2115710"/>
            <a:ext cx="1750219" cy="359073"/>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1C3F60"/>
                </a:solidFill>
                <a:latin typeface="Times New Roman" panose="02020603050405020304" pitchFamily="18" charset="0"/>
                <a:ea typeface="Playfair Display" pitchFamily="34" charset="-122"/>
                <a:cs typeface="Times New Roman" panose="02020603050405020304" pitchFamily="18" charset="0"/>
              </a:rPr>
              <a:t>Demande de freinage via la pédale (consigne de couple).</a:t>
            </a:r>
            <a:endParaRPr lang="en-US" sz="1200" dirty="0">
              <a:latin typeface="Times New Roman" panose="02020603050405020304" pitchFamily="18" charset="0"/>
              <a:cs typeface="Times New Roman" panose="02020603050405020304" pitchFamily="18" charset="0"/>
            </a:endParaRPr>
          </a:p>
        </p:txBody>
      </p:sp>
      <p:sp>
        <p:nvSpPr>
          <p:cNvPr id="11" name="Shape 6"/>
          <p:cNvSpPr/>
          <p:nvPr/>
        </p:nvSpPr>
        <p:spPr>
          <a:xfrm>
            <a:off x="2493169" y="1381634"/>
            <a:ext cx="2007394" cy="1291289"/>
          </a:xfrm>
          <a:prstGeom prst="rect">
            <a:avLst/>
          </a:prstGeom>
          <a:solidFill>
            <a:srgbClr val="FFFFFF"/>
          </a:solidFill>
          <a:ln w="18288">
            <a:solidFill>
              <a:srgbClr val="00A86B"/>
            </a:solidFill>
            <a:prstDash val="solid"/>
          </a:ln>
        </p:spPr>
        <p:txBody>
          <a:bodyPr/>
          <a:lstStyle/>
          <a:p>
            <a:endParaRPr lang="en-US"/>
          </a:p>
        </p:txBody>
      </p:sp>
      <p:pic>
        <p:nvPicPr>
          <p:cNvPr id="12" name="Image 3" descr="preencoded.png"/>
          <p:cNvPicPr>
            <a:picLocks noChangeAspect="1"/>
          </p:cNvPicPr>
          <p:nvPr/>
        </p:nvPicPr>
        <p:blipFill>
          <a:blip r:embed="rId4"/>
          <a:stretch>
            <a:fillRect/>
          </a:stretch>
        </p:blipFill>
        <p:spPr>
          <a:xfrm>
            <a:off x="2621756" y="1640917"/>
            <a:ext cx="179221" cy="179221"/>
          </a:xfrm>
          <a:prstGeom prst="rect">
            <a:avLst/>
          </a:prstGeom>
        </p:spPr>
      </p:pic>
      <p:sp>
        <p:nvSpPr>
          <p:cNvPr id="13" name="Text 7"/>
          <p:cNvSpPr/>
          <p:nvPr/>
        </p:nvSpPr>
        <p:spPr>
          <a:xfrm>
            <a:off x="2850356" y="1640650"/>
            <a:ext cx="880049" cy="192360"/>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00A86B"/>
                </a:solidFill>
                <a:latin typeface="Times New Roman" panose="02020603050405020304" pitchFamily="18" charset="0"/>
                <a:ea typeface="Space Grotesk" pitchFamily="34" charset="-122"/>
                <a:cs typeface="Times New Roman" panose="02020603050405020304" pitchFamily="18" charset="0"/>
              </a:rPr>
              <a:t>CONTRÔLE</a:t>
            </a:r>
            <a:endParaRPr lang="en-US" sz="1200" dirty="0">
              <a:latin typeface="Times New Roman" panose="02020603050405020304" pitchFamily="18" charset="0"/>
              <a:cs typeface="Times New Roman" panose="02020603050405020304" pitchFamily="18" charset="0"/>
            </a:endParaRPr>
          </a:p>
        </p:txBody>
      </p:sp>
      <p:sp>
        <p:nvSpPr>
          <p:cNvPr id="14" name="Text 8"/>
          <p:cNvSpPr/>
          <p:nvPr/>
        </p:nvSpPr>
        <p:spPr>
          <a:xfrm>
            <a:off x="2621756" y="1928186"/>
            <a:ext cx="1366208" cy="141064"/>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0F2537"/>
                </a:solidFill>
                <a:latin typeface="Times New Roman" panose="02020603050405020304" pitchFamily="18" charset="0"/>
                <a:ea typeface="Playfair Display" pitchFamily="34" charset="-122"/>
                <a:cs typeface="Times New Roman" panose="02020603050405020304" pitchFamily="18" charset="0"/>
              </a:rPr>
              <a:t>Contrôleur Central :</a:t>
            </a:r>
            <a:endParaRPr lang="en-US" sz="1200" dirty="0">
              <a:latin typeface="Times New Roman" panose="02020603050405020304" pitchFamily="18" charset="0"/>
              <a:cs typeface="Times New Roman" panose="02020603050405020304" pitchFamily="18" charset="0"/>
            </a:endParaRPr>
          </a:p>
        </p:txBody>
      </p:sp>
      <p:sp>
        <p:nvSpPr>
          <p:cNvPr id="15" name="Text 9"/>
          <p:cNvSpPr/>
          <p:nvPr/>
        </p:nvSpPr>
        <p:spPr>
          <a:xfrm>
            <a:off x="2621756" y="2115710"/>
            <a:ext cx="1750219"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1C3F60"/>
                </a:solidFill>
                <a:latin typeface="Times New Roman" panose="02020603050405020304" pitchFamily="18" charset="0"/>
                <a:ea typeface="Playfair Display" pitchFamily="34" charset="-122"/>
                <a:cs typeface="Times New Roman" panose="02020603050405020304" pitchFamily="18" charset="0"/>
              </a:rPr>
              <a:t>Traitement de la consigne et répartition intelligente de l'effort.</a:t>
            </a:r>
            <a:endParaRPr lang="en-US" sz="1200" dirty="0">
              <a:latin typeface="Times New Roman" panose="02020603050405020304" pitchFamily="18" charset="0"/>
              <a:cs typeface="Times New Roman" panose="02020603050405020304" pitchFamily="18" charset="0"/>
            </a:endParaRPr>
          </a:p>
        </p:txBody>
      </p:sp>
      <p:sp>
        <p:nvSpPr>
          <p:cNvPr id="16" name="Shape 10"/>
          <p:cNvSpPr/>
          <p:nvPr/>
        </p:nvSpPr>
        <p:spPr>
          <a:xfrm>
            <a:off x="4643438" y="1381634"/>
            <a:ext cx="2007394" cy="1535962"/>
          </a:xfrm>
          <a:prstGeom prst="rect">
            <a:avLst/>
          </a:prstGeom>
          <a:solidFill>
            <a:srgbClr val="FFFFFF"/>
          </a:solidFill>
          <a:ln w="18288">
            <a:solidFill>
              <a:srgbClr val="0F2537"/>
            </a:solidFill>
            <a:prstDash val="solid"/>
          </a:ln>
        </p:spPr>
        <p:txBody>
          <a:bodyPr/>
          <a:lstStyle/>
          <a:p>
            <a:endParaRPr lang="en-US"/>
          </a:p>
        </p:txBody>
      </p:sp>
      <p:pic>
        <p:nvPicPr>
          <p:cNvPr id="17" name="Image 4" descr="preencoded.png"/>
          <p:cNvPicPr>
            <a:picLocks noChangeAspect="1"/>
          </p:cNvPicPr>
          <p:nvPr/>
        </p:nvPicPr>
        <p:blipFill>
          <a:blip r:embed="rId5"/>
          <a:stretch>
            <a:fillRect/>
          </a:stretch>
        </p:blipFill>
        <p:spPr>
          <a:xfrm>
            <a:off x="4772025" y="1662975"/>
            <a:ext cx="139930" cy="186574"/>
          </a:xfrm>
          <a:prstGeom prst="rect">
            <a:avLst/>
          </a:prstGeom>
        </p:spPr>
      </p:pic>
      <p:sp>
        <p:nvSpPr>
          <p:cNvPr id="18" name="Text 11"/>
          <p:cNvSpPr/>
          <p:nvPr/>
        </p:nvSpPr>
        <p:spPr>
          <a:xfrm>
            <a:off x="4961334" y="1640650"/>
            <a:ext cx="1133324" cy="192360"/>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00A86B"/>
                </a:solidFill>
                <a:latin typeface="Times New Roman" panose="02020603050405020304" pitchFamily="18" charset="0"/>
                <a:ea typeface="Space Grotesk" pitchFamily="34" charset="-122"/>
                <a:cs typeface="Times New Roman" panose="02020603050405020304" pitchFamily="18" charset="0"/>
              </a:rPr>
              <a:t>ACTIONNEURS</a:t>
            </a:r>
            <a:endParaRPr lang="en-US" sz="1200" dirty="0">
              <a:latin typeface="Times New Roman" panose="02020603050405020304" pitchFamily="18" charset="0"/>
              <a:cs typeface="Times New Roman" panose="02020603050405020304" pitchFamily="18" charset="0"/>
            </a:endParaRPr>
          </a:p>
        </p:txBody>
      </p:sp>
      <p:sp>
        <p:nvSpPr>
          <p:cNvPr id="19" name="Text 12"/>
          <p:cNvSpPr/>
          <p:nvPr/>
        </p:nvSpPr>
        <p:spPr>
          <a:xfrm>
            <a:off x="4772025" y="1928186"/>
            <a:ext cx="1308500" cy="141064"/>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0F2537"/>
                </a:solidFill>
                <a:latin typeface="Times New Roman" panose="02020603050405020304" pitchFamily="18" charset="0"/>
                <a:ea typeface="Playfair Display" pitchFamily="34" charset="-122"/>
                <a:cs typeface="Times New Roman" panose="02020603050405020304" pitchFamily="18" charset="0"/>
              </a:rPr>
              <a:t>Moteur Électrique :</a:t>
            </a:r>
            <a:endParaRPr lang="en-US" sz="1200" dirty="0">
              <a:latin typeface="Times New Roman" panose="02020603050405020304" pitchFamily="18" charset="0"/>
              <a:cs typeface="Times New Roman" panose="02020603050405020304" pitchFamily="18" charset="0"/>
            </a:endParaRPr>
          </a:p>
        </p:txBody>
      </p:sp>
      <p:sp>
        <p:nvSpPr>
          <p:cNvPr id="20" name="Text 13"/>
          <p:cNvSpPr/>
          <p:nvPr/>
        </p:nvSpPr>
        <p:spPr>
          <a:xfrm>
            <a:off x="4772025" y="2115710"/>
            <a:ext cx="1123706"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C3F60"/>
                </a:solidFill>
                <a:latin typeface="Times New Roman" panose="02020603050405020304" pitchFamily="18" charset="0"/>
                <a:ea typeface="Playfair Display" pitchFamily="34" charset="-122"/>
                <a:cs typeface="Times New Roman" panose="02020603050405020304" pitchFamily="18" charset="0"/>
              </a:rPr>
              <a:t>Mode génératrice.</a:t>
            </a:r>
            <a:endParaRPr lang="en-US" sz="1200" dirty="0">
              <a:latin typeface="Times New Roman" panose="02020603050405020304" pitchFamily="18" charset="0"/>
              <a:cs typeface="Times New Roman" panose="02020603050405020304" pitchFamily="18" charset="0"/>
            </a:endParaRPr>
          </a:p>
        </p:txBody>
      </p:sp>
      <p:sp>
        <p:nvSpPr>
          <p:cNvPr id="21" name="Text 14"/>
          <p:cNvSpPr/>
          <p:nvPr/>
        </p:nvSpPr>
        <p:spPr>
          <a:xfrm>
            <a:off x="4772025" y="2344310"/>
            <a:ext cx="1213922" cy="141064"/>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0F2537"/>
                </a:solidFill>
                <a:latin typeface="Times New Roman" panose="02020603050405020304" pitchFamily="18" charset="0"/>
                <a:ea typeface="Playfair Display" pitchFamily="34" charset="-122"/>
                <a:cs typeface="Times New Roman" panose="02020603050405020304" pitchFamily="18" charset="0"/>
              </a:rPr>
              <a:t>Frein Mécanique :</a:t>
            </a:r>
            <a:endParaRPr lang="en-US" sz="1200" dirty="0">
              <a:latin typeface="Times New Roman" panose="02020603050405020304" pitchFamily="18" charset="0"/>
              <a:cs typeface="Times New Roman" panose="02020603050405020304" pitchFamily="18" charset="0"/>
            </a:endParaRPr>
          </a:p>
        </p:txBody>
      </p:sp>
      <p:sp>
        <p:nvSpPr>
          <p:cNvPr id="22" name="Text 15"/>
          <p:cNvSpPr/>
          <p:nvPr/>
        </p:nvSpPr>
        <p:spPr>
          <a:xfrm>
            <a:off x="4772025" y="2531833"/>
            <a:ext cx="1471557"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C3F60"/>
                </a:solidFill>
                <a:latin typeface="Times New Roman" panose="02020603050405020304" pitchFamily="18" charset="0"/>
                <a:ea typeface="Playfair Display" pitchFamily="34" charset="-122"/>
                <a:cs typeface="Times New Roman" panose="02020603050405020304" pitchFamily="18" charset="0"/>
              </a:rPr>
              <a:t>Complément de couple.</a:t>
            </a:r>
            <a:endParaRPr lang="en-US" sz="1200" dirty="0">
              <a:latin typeface="Times New Roman" panose="02020603050405020304" pitchFamily="18" charset="0"/>
              <a:cs typeface="Times New Roman" panose="02020603050405020304" pitchFamily="18" charset="0"/>
            </a:endParaRPr>
          </a:p>
        </p:txBody>
      </p:sp>
      <p:sp>
        <p:nvSpPr>
          <p:cNvPr id="23" name="Shape 16"/>
          <p:cNvSpPr/>
          <p:nvPr/>
        </p:nvSpPr>
        <p:spPr>
          <a:xfrm>
            <a:off x="6793706" y="1381634"/>
            <a:ext cx="2007394" cy="1291289"/>
          </a:xfrm>
          <a:prstGeom prst="rect">
            <a:avLst/>
          </a:prstGeom>
          <a:solidFill>
            <a:srgbClr val="FFFFFF"/>
          </a:solidFill>
          <a:ln w="18288">
            <a:solidFill>
              <a:srgbClr val="0F2537"/>
            </a:solidFill>
            <a:prstDash val="solid"/>
          </a:ln>
        </p:spPr>
        <p:txBody>
          <a:bodyPr/>
          <a:lstStyle/>
          <a:p>
            <a:endParaRPr lang="en-US"/>
          </a:p>
        </p:txBody>
      </p:sp>
      <p:pic>
        <p:nvPicPr>
          <p:cNvPr id="24" name="Image 5" descr="preencoded.png"/>
          <p:cNvPicPr>
            <a:picLocks noChangeAspect="1"/>
          </p:cNvPicPr>
          <p:nvPr/>
        </p:nvPicPr>
        <p:blipFill>
          <a:blip r:embed="rId6"/>
          <a:stretch>
            <a:fillRect/>
          </a:stretch>
        </p:blipFill>
        <p:spPr>
          <a:xfrm>
            <a:off x="6903542" y="1621798"/>
            <a:ext cx="248245" cy="220663"/>
          </a:xfrm>
          <a:prstGeom prst="rect">
            <a:avLst/>
          </a:prstGeom>
        </p:spPr>
      </p:pic>
      <p:sp>
        <p:nvSpPr>
          <p:cNvPr id="25" name="Text 17"/>
          <p:cNvSpPr/>
          <p:nvPr/>
        </p:nvSpPr>
        <p:spPr>
          <a:xfrm>
            <a:off x="7170539" y="1640650"/>
            <a:ext cx="869277" cy="192360"/>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00A86B"/>
                </a:solidFill>
                <a:latin typeface="Times New Roman" panose="02020603050405020304" pitchFamily="18" charset="0"/>
                <a:ea typeface="Space Grotesk" pitchFamily="34" charset="-122"/>
                <a:cs typeface="Times New Roman" panose="02020603050405020304" pitchFamily="18" charset="0"/>
              </a:rPr>
              <a:t>STOCKAGE</a:t>
            </a:r>
            <a:endParaRPr lang="en-US" sz="1200" dirty="0">
              <a:latin typeface="Times New Roman" panose="02020603050405020304" pitchFamily="18" charset="0"/>
              <a:cs typeface="Times New Roman" panose="02020603050405020304" pitchFamily="18" charset="0"/>
            </a:endParaRPr>
          </a:p>
        </p:txBody>
      </p:sp>
      <p:sp>
        <p:nvSpPr>
          <p:cNvPr id="26" name="Text 18"/>
          <p:cNvSpPr/>
          <p:nvPr/>
        </p:nvSpPr>
        <p:spPr>
          <a:xfrm>
            <a:off x="6922294" y="1928186"/>
            <a:ext cx="621965" cy="141064"/>
          </a:xfrm>
          <a:prstGeom prst="rect">
            <a:avLst/>
          </a:prstGeom>
          <a:noFill/>
          <a:ln/>
        </p:spPr>
        <p:txBody>
          <a:bodyPr wrap="none" lIns="0" tIns="0" rIns="0" bIns="0" rtlCol="0" anchor="t">
            <a:spAutoFit/>
          </a:bodyPr>
          <a:lstStyle/>
          <a:p>
            <a:pPr marL="0" indent="0" algn="l">
              <a:lnSpc>
                <a:spcPts val="1100"/>
              </a:lnSpc>
              <a:buNone/>
            </a:pPr>
            <a:r>
              <a:rPr lang="en-US" sz="1200" b="1" dirty="0">
                <a:solidFill>
                  <a:srgbClr val="0F2537"/>
                </a:solidFill>
                <a:latin typeface="Times New Roman" panose="02020603050405020304" pitchFamily="18" charset="0"/>
                <a:ea typeface="Playfair Display" pitchFamily="34" charset="-122"/>
                <a:cs typeface="Times New Roman" panose="02020603050405020304" pitchFamily="18" charset="0"/>
              </a:rPr>
              <a:t>Batterie :</a:t>
            </a:r>
            <a:endParaRPr lang="en-US" sz="1200" dirty="0">
              <a:latin typeface="Times New Roman" panose="02020603050405020304" pitchFamily="18" charset="0"/>
              <a:cs typeface="Times New Roman" panose="02020603050405020304" pitchFamily="18" charset="0"/>
            </a:endParaRPr>
          </a:p>
        </p:txBody>
      </p:sp>
      <p:sp>
        <p:nvSpPr>
          <p:cNvPr id="27" name="Text 19"/>
          <p:cNvSpPr/>
          <p:nvPr/>
        </p:nvSpPr>
        <p:spPr>
          <a:xfrm>
            <a:off x="6922294" y="2115710"/>
            <a:ext cx="1750219" cy="359073"/>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1C3F60"/>
                </a:solidFill>
                <a:latin typeface="Times New Roman" panose="02020603050405020304" pitchFamily="18" charset="0"/>
                <a:ea typeface="Playfair Display" pitchFamily="34" charset="-122"/>
                <a:cs typeface="Times New Roman" panose="02020603050405020304" pitchFamily="18" charset="0"/>
              </a:rPr>
              <a:t>Récupération et stockage de l'énergie électrique.</a:t>
            </a:r>
            <a:endParaRPr lang="en-US" sz="1200" dirty="0">
              <a:latin typeface="Times New Roman" panose="02020603050405020304" pitchFamily="18" charset="0"/>
              <a:cs typeface="Times New Roman" panose="02020603050405020304" pitchFamily="18" charset="0"/>
            </a:endParaRPr>
          </a:p>
        </p:txBody>
      </p:sp>
      <p:sp>
        <p:nvSpPr>
          <p:cNvPr id="28" name="Shape 20"/>
          <p:cNvSpPr/>
          <p:nvPr/>
        </p:nvSpPr>
        <p:spPr>
          <a:xfrm>
            <a:off x="342900" y="3366604"/>
            <a:ext cx="8458200" cy="885602"/>
          </a:xfrm>
          <a:prstGeom prst="rect">
            <a:avLst/>
          </a:prstGeom>
          <a:solidFill>
            <a:srgbClr val="0F2537"/>
          </a:solidFill>
          <a:ln/>
        </p:spPr>
        <p:txBody>
          <a:bodyPr/>
          <a:lstStyle/>
          <a:p>
            <a:endParaRPr lang="en-US"/>
          </a:p>
        </p:txBody>
      </p:sp>
      <p:sp>
        <p:nvSpPr>
          <p:cNvPr id="29" name="Text 21"/>
          <p:cNvSpPr/>
          <p:nvPr/>
        </p:nvSpPr>
        <p:spPr>
          <a:xfrm>
            <a:off x="528637" y="3573548"/>
            <a:ext cx="1293019" cy="553998"/>
          </a:xfrm>
          <a:prstGeom prst="rect">
            <a:avLst/>
          </a:prstGeom>
          <a:noFill/>
          <a:ln/>
        </p:spPr>
        <p:txBody>
          <a:bodyPr wrap="square" lIns="0" tIns="0" rIns="0" bIns="0" rtlCol="0" anchor="t">
            <a:spAutoFit/>
          </a:bodyPr>
          <a:lstStyle/>
          <a:p>
            <a:pPr marL="0" indent="0" algn="l">
              <a:lnSpc>
                <a:spcPct val="150000"/>
              </a:lnSpc>
              <a:buNone/>
            </a:pPr>
            <a:r>
              <a:rPr lang="en-US" sz="1200" b="1" dirty="0">
                <a:solidFill>
                  <a:srgbClr val="00A86B"/>
                </a:solidFill>
                <a:latin typeface="Times New Roman" panose="02020603050405020304" pitchFamily="18" charset="0"/>
                <a:ea typeface="Space Grotesk" pitchFamily="34" charset="-122"/>
                <a:cs typeface="Times New Roman" panose="02020603050405020304" pitchFamily="18" charset="0"/>
              </a:rPr>
              <a:t>SOUS-SYSTÈMES MODÉLISÉS</a:t>
            </a:r>
            <a:endParaRPr lang="en-US" sz="1200" dirty="0">
              <a:latin typeface="Times New Roman" panose="02020603050405020304" pitchFamily="18" charset="0"/>
              <a:cs typeface="Times New Roman" panose="02020603050405020304" pitchFamily="18" charset="0"/>
            </a:endParaRPr>
          </a:p>
        </p:txBody>
      </p:sp>
      <p:sp>
        <p:nvSpPr>
          <p:cNvPr id="30" name="Text 22"/>
          <p:cNvSpPr/>
          <p:nvPr/>
        </p:nvSpPr>
        <p:spPr>
          <a:xfrm>
            <a:off x="1908909" y="3647822"/>
            <a:ext cx="6940154" cy="323165"/>
          </a:xfrm>
          <a:prstGeom prst="rect">
            <a:avLst/>
          </a:prstGeom>
          <a:noFill/>
          <a:ln/>
        </p:spPr>
        <p:txBody>
          <a:bodyPr wrap="square" lIns="0" tIns="0" rIns="0" bIns="0" rtlCol="0" anchor="t">
            <a:spAutoFit/>
          </a:bodyPr>
          <a:lstStyle/>
          <a:p>
            <a:pPr marL="0" indent="0" algn="l">
              <a:lnSpc>
                <a:spcPct val="150000"/>
              </a:lnSpc>
              <a:buNone/>
            </a:pPr>
            <a:r>
              <a:rPr lang="en-US" sz="1400" dirty="0">
                <a:solidFill>
                  <a:srgbClr val="FFFFFF"/>
                </a:solidFill>
                <a:latin typeface="Times New Roman" panose="02020603050405020304" pitchFamily="18" charset="0"/>
                <a:ea typeface="Playfair Display" pitchFamily="34" charset="-122"/>
                <a:cs typeface="Times New Roman" panose="02020603050405020304" pitchFamily="18" charset="0"/>
              </a:rPr>
              <a:t>Dynamique du véhicule, moteur électrique, batterie, frein mécanique et stratégie de commande.</a:t>
            </a:r>
            <a:endParaRPr lang="en-US" sz="1400" dirty="0">
              <a:latin typeface="Times New Roman" panose="02020603050405020304" pitchFamily="18" charset="0"/>
              <a:cs typeface="Times New Roman" panose="02020603050405020304" pitchFamily="18" charset="0"/>
            </a:endParaRPr>
          </a:p>
        </p:txBody>
      </p:sp>
      <p:sp>
        <p:nvSpPr>
          <p:cNvPr id="31" name="Text 0"/>
          <p:cNvSpPr/>
          <p:nvPr/>
        </p:nvSpPr>
        <p:spPr>
          <a:xfrm>
            <a:off x="571500" y="481943"/>
            <a:ext cx="6185989" cy="410369"/>
          </a:xfrm>
          <a:prstGeom prst="rect">
            <a:avLst/>
          </a:prstGeom>
          <a:noFill/>
          <a:ln/>
        </p:spPr>
        <p:txBody>
          <a:bodyPr wrap="none" lIns="0" tIns="0" rIns="0" bIns="0" rtlCol="0" anchor="t">
            <a:spAutoFit/>
          </a:bodyPr>
          <a:lstStyle/>
          <a:p>
            <a:pPr marL="0" indent="0" algn="l">
              <a:lnSpc>
                <a:spcPts val="3200"/>
              </a:lnSpc>
              <a:buNone/>
            </a:pPr>
            <a:r>
              <a:rPr lang="en-US" sz="2400" b="1" dirty="0">
                <a:solidFill>
                  <a:srgbClr val="0F172A"/>
                </a:solidFill>
                <a:latin typeface="Times New Roman" panose="02020603050405020304" pitchFamily="18" charset="0"/>
                <a:ea typeface="Montserrat" pitchFamily="34" charset="-122"/>
                <a:cs typeface="Times New Roman" panose="02020603050405020304" pitchFamily="18" charset="0"/>
              </a:rPr>
              <a:t>ARCHITECTURE GLOBALE DU SYSTÈME</a:t>
            </a:r>
            <a:endParaRPr lang="en-US" sz="2400" dirty="0">
              <a:latin typeface="Times New Roman" panose="02020603050405020304" pitchFamily="18" charset="0"/>
              <a:cs typeface="Times New Roman" panose="02020603050405020304" pitchFamily="18" charset="0"/>
            </a:endParaRPr>
          </a:p>
        </p:txBody>
      </p:sp>
      <p:sp>
        <p:nvSpPr>
          <p:cNvPr id="32" name="Shape 2"/>
          <p:cNvSpPr/>
          <p:nvPr/>
        </p:nvSpPr>
        <p:spPr>
          <a:xfrm>
            <a:off x="414336" y="564356"/>
            <a:ext cx="85725" cy="246639"/>
          </a:xfrm>
          <a:prstGeom prst="rect">
            <a:avLst/>
          </a:prstGeom>
          <a:solidFill>
            <a:srgbClr val="DC2626"/>
          </a:solidFill>
          <a:ln/>
        </p:spPr>
        <p:txBody>
          <a:bodyPr/>
          <a:lstStyle/>
          <a:p>
            <a:endParaRPr lang="en-US"/>
          </a:p>
        </p:txBody>
      </p:sp>
    </p:spTree>
    <p:extLst>
      <p:ext uri="{BB962C8B-B14F-4D97-AF65-F5344CB8AC3E}">
        <p14:creationId xmlns:p14="http://schemas.microsoft.com/office/powerpoint/2010/main" val="750224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18F6-ECFC-A5A4-277E-813C2ED7C70D}"/>
            </a:ext>
          </a:extLst>
        </p:cNvPr>
        <p:cNvGrpSpPr/>
        <p:nvPr/>
      </p:nvGrpSpPr>
      <p:grpSpPr>
        <a:xfrm>
          <a:off x="0" y="0"/>
          <a:ext cx="0" cy="0"/>
          <a:chOff x="0" y="0"/>
          <a:chExt cx="0" cy="0"/>
        </a:xfrm>
      </p:grpSpPr>
      <p:sp>
        <p:nvSpPr>
          <p:cNvPr id="30" name="Text 22">
            <a:extLst>
              <a:ext uri="{FF2B5EF4-FFF2-40B4-BE49-F238E27FC236}">
                <a16:creationId xmlns:a16="http://schemas.microsoft.com/office/drawing/2014/main" id="{043E6B4E-5451-1805-BBAE-19C80759E224}"/>
              </a:ext>
            </a:extLst>
          </p:cNvPr>
          <p:cNvSpPr/>
          <p:nvPr/>
        </p:nvSpPr>
        <p:spPr>
          <a:xfrm>
            <a:off x="1908909" y="3647822"/>
            <a:ext cx="6940154" cy="323165"/>
          </a:xfrm>
          <a:prstGeom prst="rect">
            <a:avLst/>
          </a:prstGeom>
          <a:noFill/>
          <a:ln/>
        </p:spPr>
        <p:txBody>
          <a:bodyPr wrap="square" lIns="0" tIns="0" rIns="0" bIns="0" rtlCol="0" anchor="t">
            <a:spAutoFit/>
          </a:bodyPr>
          <a:lstStyle/>
          <a:p>
            <a:pPr marL="0" indent="0" algn="l">
              <a:lnSpc>
                <a:spcPct val="150000"/>
              </a:lnSpc>
              <a:buNone/>
            </a:pPr>
            <a:r>
              <a:rPr lang="en-US" sz="1400" dirty="0">
                <a:solidFill>
                  <a:srgbClr val="FFFFFF"/>
                </a:solidFill>
                <a:latin typeface="Times New Roman" panose="02020603050405020304" pitchFamily="18" charset="0"/>
                <a:ea typeface="Playfair Display" pitchFamily="34" charset="-122"/>
                <a:cs typeface="Times New Roman" panose="02020603050405020304" pitchFamily="18" charset="0"/>
              </a:rPr>
              <a:t>Dynamique du véhicule, moteur électrique, batterie, frein mécanique et stratégie de commande.</a:t>
            </a:r>
            <a:endParaRPr lang="en-US" sz="1400" dirty="0">
              <a:latin typeface="Times New Roman" panose="02020603050405020304" pitchFamily="18" charset="0"/>
              <a:cs typeface="Times New Roman" panose="02020603050405020304" pitchFamily="18" charset="0"/>
            </a:endParaRPr>
          </a:p>
        </p:txBody>
      </p:sp>
      <p:sp>
        <p:nvSpPr>
          <p:cNvPr id="31" name="Text 0">
            <a:extLst>
              <a:ext uri="{FF2B5EF4-FFF2-40B4-BE49-F238E27FC236}">
                <a16:creationId xmlns:a16="http://schemas.microsoft.com/office/drawing/2014/main" id="{9D535EB9-4447-0A80-E111-9DC7048FB607}"/>
              </a:ext>
            </a:extLst>
          </p:cNvPr>
          <p:cNvSpPr/>
          <p:nvPr/>
        </p:nvSpPr>
        <p:spPr>
          <a:xfrm>
            <a:off x="571500" y="481943"/>
            <a:ext cx="6185989" cy="410369"/>
          </a:xfrm>
          <a:prstGeom prst="rect">
            <a:avLst/>
          </a:prstGeom>
          <a:noFill/>
          <a:ln/>
        </p:spPr>
        <p:txBody>
          <a:bodyPr wrap="none" lIns="0" tIns="0" rIns="0" bIns="0" rtlCol="0" anchor="t">
            <a:spAutoFit/>
          </a:bodyPr>
          <a:lstStyle/>
          <a:p>
            <a:pPr marL="0" indent="0" algn="l">
              <a:lnSpc>
                <a:spcPts val="3200"/>
              </a:lnSpc>
              <a:buNone/>
            </a:pPr>
            <a:r>
              <a:rPr lang="en-US" sz="2400" b="1" dirty="0">
                <a:solidFill>
                  <a:srgbClr val="0F172A"/>
                </a:solidFill>
                <a:latin typeface="Times New Roman" panose="02020603050405020304" pitchFamily="18" charset="0"/>
                <a:ea typeface="Montserrat" pitchFamily="34" charset="-122"/>
                <a:cs typeface="Times New Roman" panose="02020603050405020304" pitchFamily="18" charset="0"/>
              </a:rPr>
              <a:t>ARCHITECTURE GLOBALE DU SYSTÈME</a:t>
            </a:r>
            <a:endParaRPr lang="en-US" sz="2400" dirty="0">
              <a:latin typeface="Times New Roman" panose="02020603050405020304" pitchFamily="18" charset="0"/>
              <a:cs typeface="Times New Roman" panose="02020603050405020304" pitchFamily="18" charset="0"/>
            </a:endParaRPr>
          </a:p>
        </p:txBody>
      </p:sp>
      <p:sp>
        <p:nvSpPr>
          <p:cNvPr id="32" name="Shape 2">
            <a:extLst>
              <a:ext uri="{FF2B5EF4-FFF2-40B4-BE49-F238E27FC236}">
                <a16:creationId xmlns:a16="http://schemas.microsoft.com/office/drawing/2014/main" id="{57617904-4B6E-2F47-F785-29316C9D4166}"/>
              </a:ext>
            </a:extLst>
          </p:cNvPr>
          <p:cNvSpPr/>
          <p:nvPr/>
        </p:nvSpPr>
        <p:spPr>
          <a:xfrm>
            <a:off x="414336" y="564356"/>
            <a:ext cx="85725" cy="246639"/>
          </a:xfrm>
          <a:prstGeom prst="rect">
            <a:avLst/>
          </a:prstGeom>
          <a:solidFill>
            <a:srgbClr val="DC2626"/>
          </a:solidFill>
          <a:ln/>
        </p:spPr>
        <p:txBody>
          <a:bodyPr/>
          <a:lstStyle/>
          <a:p>
            <a:endParaRPr lang="en-US"/>
          </a:p>
        </p:txBody>
      </p:sp>
      <p:sp>
        <p:nvSpPr>
          <p:cNvPr id="5" name="Rectangle 4">
            <a:extLst>
              <a:ext uri="{FF2B5EF4-FFF2-40B4-BE49-F238E27FC236}">
                <a16:creationId xmlns:a16="http://schemas.microsoft.com/office/drawing/2014/main" id="{5FD3D70F-8116-40BB-3B72-C4F0011D0E5B}"/>
              </a:ext>
            </a:extLst>
          </p:cNvPr>
          <p:cNvSpPr/>
          <p:nvPr/>
        </p:nvSpPr>
        <p:spPr>
          <a:xfrm>
            <a:off x="662949" y="999981"/>
            <a:ext cx="2082621"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Modèle de principe</a:t>
            </a:r>
            <a:endParaRPr lang="en-US" dirty="0">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55A18845-95D6-9499-E3F4-EFD692008B68}"/>
              </a:ext>
            </a:extLst>
          </p:cNvPr>
          <p:cNvGrpSpPr/>
          <p:nvPr/>
        </p:nvGrpSpPr>
        <p:grpSpPr>
          <a:xfrm>
            <a:off x="1408467" y="1081940"/>
            <a:ext cx="6624295" cy="3728832"/>
            <a:chOff x="1103667" y="1268207"/>
            <a:chExt cx="6624295" cy="3728832"/>
          </a:xfrm>
        </p:grpSpPr>
        <p:grpSp>
          <p:nvGrpSpPr>
            <p:cNvPr id="21" name="Group 20">
              <a:extLst>
                <a:ext uri="{FF2B5EF4-FFF2-40B4-BE49-F238E27FC236}">
                  <a16:creationId xmlns:a16="http://schemas.microsoft.com/office/drawing/2014/main" id="{6281F222-4878-8934-DAE9-4C9D8812A2C9}"/>
                </a:ext>
              </a:extLst>
            </p:cNvPr>
            <p:cNvGrpSpPr/>
            <p:nvPr/>
          </p:nvGrpSpPr>
          <p:grpSpPr>
            <a:xfrm>
              <a:off x="1103667" y="1523410"/>
              <a:ext cx="6301241" cy="3473629"/>
              <a:chOff x="1117119" y="1369313"/>
              <a:chExt cx="6301241" cy="3473629"/>
            </a:xfrm>
          </p:grpSpPr>
          <p:pic>
            <p:nvPicPr>
              <p:cNvPr id="6" name="Picture 5">
                <a:extLst>
                  <a:ext uri="{FF2B5EF4-FFF2-40B4-BE49-F238E27FC236}">
                    <a16:creationId xmlns:a16="http://schemas.microsoft.com/office/drawing/2014/main" id="{FA6B0E5D-BD16-BD21-D16B-19DB768719A5}"/>
                  </a:ext>
                </a:extLst>
              </p:cNvPr>
              <p:cNvPicPr>
                <a:picLocks noChangeAspect="1"/>
              </p:cNvPicPr>
              <p:nvPr/>
            </p:nvPicPr>
            <p:blipFill>
              <a:blip r:embed="rId3"/>
              <a:stretch>
                <a:fillRect/>
              </a:stretch>
            </p:blipFill>
            <p:spPr>
              <a:xfrm>
                <a:off x="1117119" y="1369313"/>
                <a:ext cx="6293173" cy="3473629"/>
              </a:xfrm>
              <a:prstGeom prst="rect">
                <a:avLst/>
              </a:prstGeom>
            </p:spPr>
          </p:pic>
          <p:pic>
            <p:nvPicPr>
              <p:cNvPr id="14" name="Picture 13">
                <a:extLst>
                  <a:ext uri="{FF2B5EF4-FFF2-40B4-BE49-F238E27FC236}">
                    <a16:creationId xmlns:a16="http://schemas.microsoft.com/office/drawing/2014/main" id="{3205C7DB-5A2B-5E33-CACE-0DEB8BBC9E03}"/>
                  </a:ext>
                </a:extLst>
              </p:cNvPr>
              <p:cNvPicPr>
                <a:picLocks noChangeAspect="1"/>
              </p:cNvPicPr>
              <p:nvPr/>
            </p:nvPicPr>
            <p:blipFill>
              <a:blip r:embed="rId4"/>
              <a:stretch>
                <a:fillRect/>
              </a:stretch>
            </p:blipFill>
            <p:spPr>
              <a:xfrm>
                <a:off x="6621849" y="2168264"/>
                <a:ext cx="796511" cy="1159135"/>
              </a:xfrm>
              <a:prstGeom prst="rect">
                <a:avLst/>
              </a:prstGeom>
            </p:spPr>
          </p:pic>
          <p:pic>
            <p:nvPicPr>
              <p:cNvPr id="16" name="Picture 15">
                <a:extLst>
                  <a:ext uri="{FF2B5EF4-FFF2-40B4-BE49-F238E27FC236}">
                    <a16:creationId xmlns:a16="http://schemas.microsoft.com/office/drawing/2014/main" id="{29EBBF3F-2AEA-8844-7630-005B40FCB78C}"/>
                  </a:ext>
                </a:extLst>
              </p:cNvPr>
              <p:cNvPicPr>
                <a:picLocks noChangeAspect="1"/>
              </p:cNvPicPr>
              <p:nvPr/>
            </p:nvPicPr>
            <p:blipFill>
              <a:blip r:embed="rId4"/>
              <a:stretch>
                <a:fillRect/>
              </a:stretch>
            </p:blipFill>
            <p:spPr>
              <a:xfrm>
                <a:off x="5774124" y="2478628"/>
                <a:ext cx="925126" cy="500884"/>
              </a:xfrm>
              <a:prstGeom prst="rect">
                <a:avLst/>
              </a:prstGeom>
            </p:spPr>
          </p:pic>
          <p:pic>
            <p:nvPicPr>
              <p:cNvPr id="20" name="Picture 19">
                <a:extLst>
                  <a:ext uri="{FF2B5EF4-FFF2-40B4-BE49-F238E27FC236}">
                    <a16:creationId xmlns:a16="http://schemas.microsoft.com/office/drawing/2014/main" id="{E1ED1BEF-D2C7-ED33-6E01-6D718628CE51}"/>
                  </a:ext>
                </a:extLst>
              </p:cNvPr>
              <p:cNvPicPr>
                <a:picLocks noChangeAspect="1"/>
              </p:cNvPicPr>
              <p:nvPr/>
            </p:nvPicPr>
            <p:blipFill>
              <a:blip r:embed="rId5"/>
              <a:stretch>
                <a:fillRect/>
              </a:stretch>
            </p:blipFill>
            <p:spPr>
              <a:xfrm>
                <a:off x="2045878" y="2195155"/>
                <a:ext cx="476274" cy="266714"/>
              </a:xfrm>
              <a:prstGeom prst="rect">
                <a:avLst/>
              </a:prstGeom>
            </p:spPr>
          </p:pic>
        </p:grpSp>
        <p:pic>
          <p:nvPicPr>
            <p:cNvPr id="23" name="Picture 22">
              <a:extLst>
                <a:ext uri="{FF2B5EF4-FFF2-40B4-BE49-F238E27FC236}">
                  <a16:creationId xmlns:a16="http://schemas.microsoft.com/office/drawing/2014/main" id="{134EECCB-C44C-DEC0-DD32-64770807C93B}"/>
                </a:ext>
              </a:extLst>
            </p:cNvPr>
            <p:cNvPicPr>
              <a:picLocks noChangeAspect="1"/>
            </p:cNvPicPr>
            <p:nvPr/>
          </p:nvPicPr>
          <p:blipFill>
            <a:blip r:embed="rId4"/>
            <a:stretch>
              <a:fillRect/>
            </a:stretch>
          </p:blipFill>
          <p:spPr>
            <a:xfrm>
              <a:off x="6845267" y="1268207"/>
              <a:ext cx="882695" cy="1054154"/>
            </a:xfrm>
            <a:prstGeom prst="rect">
              <a:avLst/>
            </a:prstGeom>
          </p:spPr>
        </p:pic>
        <p:sp>
          <p:nvSpPr>
            <p:cNvPr id="25" name="Rectangle 24">
              <a:extLst>
                <a:ext uri="{FF2B5EF4-FFF2-40B4-BE49-F238E27FC236}">
                  <a16:creationId xmlns:a16="http://schemas.microsoft.com/office/drawing/2014/main" id="{2EFC6542-70FC-F20F-41AE-1C130D138F69}"/>
                </a:ext>
              </a:extLst>
            </p:cNvPr>
            <p:cNvSpPr/>
            <p:nvPr/>
          </p:nvSpPr>
          <p:spPr>
            <a:xfrm>
              <a:off x="1736392" y="1705194"/>
              <a:ext cx="5644312" cy="329184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09142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70"/>
          <p:cNvGrpSpPr/>
          <p:nvPr/>
        </p:nvGrpSpPr>
        <p:grpSpPr>
          <a:xfrm rot="5400000">
            <a:off x="-1147496" y="2968243"/>
            <a:ext cx="3064640" cy="257175"/>
            <a:chOff x="0" y="0"/>
            <a:chExt cx="1614296" cy="135467"/>
          </a:xfrm>
        </p:grpSpPr>
        <p:sp>
          <p:nvSpPr>
            <p:cNvPr id="71" name="Freeform 71"/>
            <p:cNvSpPr/>
            <p:nvPr/>
          </p:nvSpPr>
          <p:spPr>
            <a:xfrm>
              <a:off x="0" y="0"/>
              <a:ext cx="1614296" cy="135467"/>
            </a:xfrm>
            <a:custGeom>
              <a:avLst/>
              <a:gdLst/>
              <a:ahLst/>
              <a:cxnLst/>
              <a:rect l="l" t="t" r="r" b="b"/>
              <a:pathLst>
                <a:path w="1614296" h="135467">
                  <a:moveTo>
                    <a:pt x="0" y="0"/>
                  </a:moveTo>
                  <a:lnTo>
                    <a:pt x="1614296" y="0"/>
                  </a:lnTo>
                  <a:lnTo>
                    <a:pt x="1614296" y="135467"/>
                  </a:lnTo>
                  <a:lnTo>
                    <a:pt x="0" y="135467"/>
                  </a:lnTo>
                  <a:close/>
                </a:path>
              </a:pathLst>
            </a:custGeom>
            <a:solidFill>
              <a:srgbClr val="DAE3E7"/>
            </a:solidFill>
          </p:spPr>
          <p:txBody>
            <a:bodyPr/>
            <a:lstStyle/>
            <a:p>
              <a:endParaRPr lang="en-US" sz="900"/>
            </a:p>
          </p:txBody>
        </p:sp>
        <p:sp>
          <p:nvSpPr>
            <p:cNvPr id="72" name="TextBox 72"/>
            <p:cNvSpPr txBox="1"/>
            <p:nvPr/>
          </p:nvSpPr>
          <p:spPr>
            <a:xfrm>
              <a:off x="0" y="-38100"/>
              <a:ext cx="1614296" cy="173567"/>
            </a:xfrm>
            <a:prstGeom prst="rect">
              <a:avLst/>
            </a:prstGeom>
          </p:spPr>
          <p:txBody>
            <a:bodyPr lIns="25400" tIns="25400" rIns="25400" bIns="25400" rtlCol="0" anchor="ctr"/>
            <a:lstStyle/>
            <a:p>
              <a:pPr algn="ctr">
                <a:lnSpc>
                  <a:spcPts val="1330"/>
                </a:lnSpc>
                <a:spcBef>
                  <a:spcPct val="0"/>
                </a:spcBef>
              </a:pPr>
              <a:endParaRPr lang="fr-FR" sz="900"/>
            </a:p>
          </p:txBody>
        </p:sp>
      </p:grpSp>
      <p:grpSp>
        <p:nvGrpSpPr>
          <p:cNvPr id="59" name="Group 10">
            <a:extLst>
              <a:ext uri="{FF2B5EF4-FFF2-40B4-BE49-F238E27FC236}">
                <a16:creationId xmlns:a16="http://schemas.microsoft.com/office/drawing/2014/main" id="{87D51F90-81C0-404E-80CA-4E4B259AFB1B}"/>
              </a:ext>
            </a:extLst>
          </p:cNvPr>
          <p:cNvGrpSpPr/>
          <p:nvPr/>
        </p:nvGrpSpPr>
        <p:grpSpPr>
          <a:xfrm>
            <a:off x="7986116" y="262152"/>
            <a:ext cx="868261" cy="870138"/>
            <a:chOff x="0" y="0"/>
            <a:chExt cx="2315362" cy="2320367"/>
          </a:xfrm>
        </p:grpSpPr>
        <p:grpSp>
          <p:nvGrpSpPr>
            <p:cNvPr id="60" name="Group 11">
              <a:extLst>
                <a:ext uri="{FF2B5EF4-FFF2-40B4-BE49-F238E27FC236}">
                  <a16:creationId xmlns:a16="http://schemas.microsoft.com/office/drawing/2014/main" id="{511889D3-9E5B-4DF0-919B-7607FE21A4E8}"/>
                </a:ext>
              </a:extLst>
            </p:cNvPr>
            <p:cNvGrpSpPr/>
            <p:nvPr/>
          </p:nvGrpSpPr>
          <p:grpSpPr>
            <a:xfrm>
              <a:off x="1420986" y="0"/>
              <a:ext cx="183882" cy="183969"/>
              <a:chOff x="0" y="0"/>
              <a:chExt cx="1811417" cy="1812273"/>
            </a:xfrm>
          </p:grpSpPr>
          <p:sp>
            <p:nvSpPr>
              <p:cNvPr id="94" name="Freeform 12">
                <a:extLst>
                  <a:ext uri="{FF2B5EF4-FFF2-40B4-BE49-F238E27FC236}">
                    <a16:creationId xmlns:a16="http://schemas.microsoft.com/office/drawing/2014/main" id="{F058D98A-7FC9-4135-B645-7E5DB3436CE3}"/>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5" name="TextBox 13">
                <a:extLst>
                  <a:ext uri="{FF2B5EF4-FFF2-40B4-BE49-F238E27FC236}">
                    <a16:creationId xmlns:a16="http://schemas.microsoft.com/office/drawing/2014/main" id="{2741C9C4-1BEA-44B1-9FEE-A2315D8678B1}"/>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1" name="Group 14">
              <a:extLst>
                <a:ext uri="{FF2B5EF4-FFF2-40B4-BE49-F238E27FC236}">
                  <a16:creationId xmlns:a16="http://schemas.microsoft.com/office/drawing/2014/main" id="{644ECDDD-9015-4F02-80DF-90026BAD9E69}"/>
                </a:ext>
              </a:extLst>
            </p:cNvPr>
            <p:cNvGrpSpPr/>
            <p:nvPr/>
          </p:nvGrpSpPr>
          <p:grpSpPr>
            <a:xfrm>
              <a:off x="1420986" y="708765"/>
              <a:ext cx="183882" cy="183969"/>
              <a:chOff x="0" y="0"/>
              <a:chExt cx="1811417" cy="1812273"/>
            </a:xfrm>
          </p:grpSpPr>
          <p:sp>
            <p:nvSpPr>
              <p:cNvPr id="92" name="Freeform 15">
                <a:extLst>
                  <a:ext uri="{FF2B5EF4-FFF2-40B4-BE49-F238E27FC236}">
                    <a16:creationId xmlns:a16="http://schemas.microsoft.com/office/drawing/2014/main" id="{67051045-648E-47E4-8842-9B052941490A}"/>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3" name="TextBox 16">
                <a:extLst>
                  <a:ext uri="{FF2B5EF4-FFF2-40B4-BE49-F238E27FC236}">
                    <a16:creationId xmlns:a16="http://schemas.microsoft.com/office/drawing/2014/main" id="{D35B7320-61BF-4BE6-B8E8-21B9EF5115FF}"/>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2" name="Group 17">
              <a:extLst>
                <a:ext uri="{FF2B5EF4-FFF2-40B4-BE49-F238E27FC236}">
                  <a16:creationId xmlns:a16="http://schemas.microsoft.com/office/drawing/2014/main" id="{19E05CF3-2D72-4981-8578-0D12840031CB}"/>
                </a:ext>
              </a:extLst>
            </p:cNvPr>
            <p:cNvGrpSpPr/>
            <p:nvPr/>
          </p:nvGrpSpPr>
          <p:grpSpPr>
            <a:xfrm>
              <a:off x="1420935" y="1419311"/>
              <a:ext cx="183882" cy="183969"/>
              <a:chOff x="0" y="0"/>
              <a:chExt cx="1811417" cy="1812273"/>
            </a:xfrm>
          </p:grpSpPr>
          <p:sp>
            <p:nvSpPr>
              <p:cNvPr id="90" name="Freeform 18">
                <a:extLst>
                  <a:ext uri="{FF2B5EF4-FFF2-40B4-BE49-F238E27FC236}">
                    <a16:creationId xmlns:a16="http://schemas.microsoft.com/office/drawing/2014/main" id="{8F819840-FDD5-4545-8266-BD2F5BE30E75}"/>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1" name="TextBox 19">
                <a:extLst>
                  <a:ext uri="{FF2B5EF4-FFF2-40B4-BE49-F238E27FC236}">
                    <a16:creationId xmlns:a16="http://schemas.microsoft.com/office/drawing/2014/main" id="{37B5FAB1-AC02-4AA7-8BA4-93054907A5A5}"/>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3" name="Group 20">
              <a:extLst>
                <a:ext uri="{FF2B5EF4-FFF2-40B4-BE49-F238E27FC236}">
                  <a16:creationId xmlns:a16="http://schemas.microsoft.com/office/drawing/2014/main" id="{BAED397C-3030-41FA-A2FC-8E4193762CC4}"/>
                </a:ext>
              </a:extLst>
            </p:cNvPr>
            <p:cNvGrpSpPr/>
            <p:nvPr/>
          </p:nvGrpSpPr>
          <p:grpSpPr>
            <a:xfrm>
              <a:off x="710493" y="0"/>
              <a:ext cx="183882" cy="183969"/>
              <a:chOff x="0" y="0"/>
              <a:chExt cx="1811417" cy="1812273"/>
            </a:xfrm>
          </p:grpSpPr>
          <p:sp>
            <p:nvSpPr>
              <p:cNvPr id="88" name="Freeform 21">
                <a:extLst>
                  <a:ext uri="{FF2B5EF4-FFF2-40B4-BE49-F238E27FC236}">
                    <a16:creationId xmlns:a16="http://schemas.microsoft.com/office/drawing/2014/main" id="{8B625E40-A3A3-4855-AB69-B1A8239A06F2}"/>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9" name="TextBox 22">
                <a:extLst>
                  <a:ext uri="{FF2B5EF4-FFF2-40B4-BE49-F238E27FC236}">
                    <a16:creationId xmlns:a16="http://schemas.microsoft.com/office/drawing/2014/main" id="{2530E0D5-4693-41CE-875E-0E6B79F18D18}"/>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4" name="Group 23">
              <a:extLst>
                <a:ext uri="{FF2B5EF4-FFF2-40B4-BE49-F238E27FC236}">
                  <a16:creationId xmlns:a16="http://schemas.microsoft.com/office/drawing/2014/main" id="{869D16AD-258D-40CA-93CF-65FB8AF86A89}"/>
                </a:ext>
              </a:extLst>
            </p:cNvPr>
            <p:cNvGrpSpPr/>
            <p:nvPr/>
          </p:nvGrpSpPr>
          <p:grpSpPr>
            <a:xfrm>
              <a:off x="710493" y="708765"/>
              <a:ext cx="183882" cy="183969"/>
              <a:chOff x="0" y="0"/>
              <a:chExt cx="1811417" cy="1812273"/>
            </a:xfrm>
          </p:grpSpPr>
          <p:sp>
            <p:nvSpPr>
              <p:cNvPr id="86" name="Freeform 24">
                <a:extLst>
                  <a:ext uri="{FF2B5EF4-FFF2-40B4-BE49-F238E27FC236}">
                    <a16:creationId xmlns:a16="http://schemas.microsoft.com/office/drawing/2014/main" id="{BFFDFD32-62D6-42A5-8DBD-5B9632B1FDC9}"/>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7" name="TextBox 25">
                <a:extLst>
                  <a:ext uri="{FF2B5EF4-FFF2-40B4-BE49-F238E27FC236}">
                    <a16:creationId xmlns:a16="http://schemas.microsoft.com/office/drawing/2014/main" id="{DC40B894-145D-424E-92C4-EC3F83C1505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5" name="Group 26">
              <a:extLst>
                <a:ext uri="{FF2B5EF4-FFF2-40B4-BE49-F238E27FC236}">
                  <a16:creationId xmlns:a16="http://schemas.microsoft.com/office/drawing/2014/main" id="{675B041E-3A9D-4DEB-BDF5-74EC56721076}"/>
                </a:ext>
              </a:extLst>
            </p:cNvPr>
            <p:cNvGrpSpPr/>
            <p:nvPr/>
          </p:nvGrpSpPr>
          <p:grpSpPr>
            <a:xfrm>
              <a:off x="0" y="0"/>
              <a:ext cx="183882" cy="183969"/>
              <a:chOff x="0" y="0"/>
              <a:chExt cx="1811417" cy="1812273"/>
            </a:xfrm>
          </p:grpSpPr>
          <p:sp>
            <p:nvSpPr>
              <p:cNvPr id="84" name="Freeform 27">
                <a:extLst>
                  <a:ext uri="{FF2B5EF4-FFF2-40B4-BE49-F238E27FC236}">
                    <a16:creationId xmlns:a16="http://schemas.microsoft.com/office/drawing/2014/main" id="{88B6D3CD-3EBE-4A7F-AFFA-D7B846D8AA1C}"/>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5" name="TextBox 28">
                <a:extLst>
                  <a:ext uri="{FF2B5EF4-FFF2-40B4-BE49-F238E27FC236}">
                    <a16:creationId xmlns:a16="http://schemas.microsoft.com/office/drawing/2014/main" id="{F979B15E-372B-4222-99C7-1B34123F2E57}"/>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6" name="Group 29">
              <a:extLst>
                <a:ext uri="{FF2B5EF4-FFF2-40B4-BE49-F238E27FC236}">
                  <a16:creationId xmlns:a16="http://schemas.microsoft.com/office/drawing/2014/main" id="{E691BD9B-9A29-4141-B7E4-FB822B1C7A0F}"/>
                </a:ext>
              </a:extLst>
            </p:cNvPr>
            <p:cNvGrpSpPr/>
            <p:nvPr/>
          </p:nvGrpSpPr>
          <p:grpSpPr>
            <a:xfrm>
              <a:off x="2131479" y="0"/>
              <a:ext cx="183882" cy="183969"/>
              <a:chOff x="0" y="0"/>
              <a:chExt cx="1811417" cy="1812273"/>
            </a:xfrm>
          </p:grpSpPr>
          <p:sp>
            <p:nvSpPr>
              <p:cNvPr id="82" name="Freeform 30">
                <a:extLst>
                  <a:ext uri="{FF2B5EF4-FFF2-40B4-BE49-F238E27FC236}">
                    <a16:creationId xmlns:a16="http://schemas.microsoft.com/office/drawing/2014/main" id="{141F0147-17AD-4322-AB2F-FED5D08CCBA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3" name="TextBox 31">
                <a:extLst>
                  <a:ext uri="{FF2B5EF4-FFF2-40B4-BE49-F238E27FC236}">
                    <a16:creationId xmlns:a16="http://schemas.microsoft.com/office/drawing/2014/main" id="{C46BFB08-E205-4DC2-AAA2-82CA98AE09B4}"/>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7" name="Group 32">
              <a:extLst>
                <a:ext uri="{FF2B5EF4-FFF2-40B4-BE49-F238E27FC236}">
                  <a16:creationId xmlns:a16="http://schemas.microsoft.com/office/drawing/2014/main" id="{1C92C7CA-B021-4EDF-A02D-861001EAFDAF}"/>
                </a:ext>
              </a:extLst>
            </p:cNvPr>
            <p:cNvGrpSpPr/>
            <p:nvPr/>
          </p:nvGrpSpPr>
          <p:grpSpPr>
            <a:xfrm>
              <a:off x="2131479" y="708765"/>
              <a:ext cx="183882" cy="183969"/>
              <a:chOff x="0" y="0"/>
              <a:chExt cx="1811417" cy="1812273"/>
            </a:xfrm>
          </p:grpSpPr>
          <p:sp>
            <p:nvSpPr>
              <p:cNvPr id="80" name="Freeform 33">
                <a:extLst>
                  <a:ext uri="{FF2B5EF4-FFF2-40B4-BE49-F238E27FC236}">
                    <a16:creationId xmlns:a16="http://schemas.microsoft.com/office/drawing/2014/main" id="{2BF4A1C6-69BF-44B1-8022-F5D7AC0E6E1C}"/>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1" name="TextBox 34">
                <a:extLst>
                  <a:ext uri="{FF2B5EF4-FFF2-40B4-BE49-F238E27FC236}">
                    <a16:creationId xmlns:a16="http://schemas.microsoft.com/office/drawing/2014/main" id="{536A500C-724A-47E3-BEF6-F001689DE1AC}"/>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8" name="Group 35">
              <a:extLst>
                <a:ext uri="{FF2B5EF4-FFF2-40B4-BE49-F238E27FC236}">
                  <a16:creationId xmlns:a16="http://schemas.microsoft.com/office/drawing/2014/main" id="{52A1CE83-EF18-4C4B-9D0F-B97D438B907D}"/>
                </a:ext>
              </a:extLst>
            </p:cNvPr>
            <p:cNvGrpSpPr/>
            <p:nvPr/>
          </p:nvGrpSpPr>
          <p:grpSpPr>
            <a:xfrm>
              <a:off x="2131428" y="1419311"/>
              <a:ext cx="183882" cy="183969"/>
              <a:chOff x="0" y="0"/>
              <a:chExt cx="1811417" cy="1812273"/>
            </a:xfrm>
          </p:grpSpPr>
          <p:sp>
            <p:nvSpPr>
              <p:cNvPr id="78" name="Freeform 36">
                <a:extLst>
                  <a:ext uri="{FF2B5EF4-FFF2-40B4-BE49-F238E27FC236}">
                    <a16:creationId xmlns:a16="http://schemas.microsoft.com/office/drawing/2014/main" id="{C04B9160-1854-4E52-AD4B-781DFC8ADDC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79" name="TextBox 37">
                <a:extLst>
                  <a:ext uri="{FF2B5EF4-FFF2-40B4-BE49-F238E27FC236}">
                    <a16:creationId xmlns:a16="http://schemas.microsoft.com/office/drawing/2014/main" id="{0C1235C2-B129-4A04-8FDA-7E5DE79CDFA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9" name="Group 38">
              <a:extLst>
                <a:ext uri="{FF2B5EF4-FFF2-40B4-BE49-F238E27FC236}">
                  <a16:creationId xmlns:a16="http://schemas.microsoft.com/office/drawing/2014/main" id="{E112A8C0-B99F-4903-817D-F1D99395D275}"/>
                </a:ext>
              </a:extLst>
            </p:cNvPr>
            <p:cNvGrpSpPr/>
            <p:nvPr/>
          </p:nvGrpSpPr>
          <p:grpSpPr>
            <a:xfrm>
              <a:off x="2131428" y="2136398"/>
              <a:ext cx="183882" cy="183969"/>
              <a:chOff x="0" y="0"/>
              <a:chExt cx="1811417" cy="1812273"/>
            </a:xfrm>
          </p:grpSpPr>
          <p:sp>
            <p:nvSpPr>
              <p:cNvPr id="73" name="Freeform 39">
                <a:extLst>
                  <a:ext uri="{FF2B5EF4-FFF2-40B4-BE49-F238E27FC236}">
                    <a16:creationId xmlns:a16="http://schemas.microsoft.com/office/drawing/2014/main" id="{A17B95F6-2DB7-4AC0-9137-41DD875FEDC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77" name="TextBox 40">
                <a:extLst>
                  <a:ext uri="{FF2B5EF4-FFF2-40B4-BE49-F238E27FC236}">
                    <a16:creationId xmlns:a16="http://schemas.microsoft.com/office/drawing/2014/main" id="{EB587B5C-D0AE-48C9-B404-1AB048ECB2C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sp>
        <p:nvSpPr>
          <p:cNvPr id="42" name="Google Shape;112;p17">
            <a:extLst>
              <a:ext uri="{FF2B5EF4-FFF2-40B4-BE49-F238E27FC236}">
                <a16:creationId xmlns:a16="http://schemas.microsoft.com/office/drawing/2014/main" id="{58E17CDB-4E13-47D8-9FC1-66AD73FB43FE}"/>
              </a:ext>
            </a:extLst>
          </p:cNvPr>
          <p:cNvSpPr txBox="1">
            <a:spLocks/>
          </p:cNvSpPr>
          <p:nvPr/>
        </p:nvSpPr>
        <p:spPr>
          <a:xfrm>
            <a:off x="8587922" y="4684548"/>
            <a:ext cx="548700" cy="39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300" b="1">
                <a:solidFill>
                  <a:schemeClr val="accent1"/>
                </a:solidFill>
                <a:latin typeface="+mn-lt"/>
                <a:ea typeface="Source Sans Pro"/>
              </a:rPr>
              <a:pPr algn="r"/>
              <a:t>7</a:t>
            </a:fld>
            <a:endParaRPr lang="en" sz="1300" b="1" dirty="0">
              <a:solidFill>
                <a:schemeClr val="accent1"/>
              </a:solidFill>
              <a:latin typeface="+mn-lt"/>
              <a:ea typeface="Source Sans Pro"/>
            </a:endParaRPr>
          </a:p>
        </p:txBody>
      </p:sp>
      <p:sp>
        <p:nvSpPr>
          <p:cNvPr id="44" name="ZoneTexte 43">
            <a:extLst>
              <a:ext uri="{FF2B5EF4-FFF2-40B4-BE49-F238E27FC236}">
                <a16:creationId xmlns:a16="http://schemas.microsoft.com/office/drawing/2014/main" id="{F39BB214-C35B-4F21-9BA6-6A2865A81720}"/>
              </a:ext>
            </a:extLst>
          </p:cNvPr>
          <p:cNvSpPr txBox="1"/>
          <p:nvPr/>
        </p:nvSpPr>
        <p:spPr>
          <a:xfrm>
            <a:off x="598442" y="191109"/>
            <a:ext cx="6411958" cy="703654"/>
          </a:xfrm>
          <a:prstGeom prst="rect">
            <a:avLst/>
          </a:prstGeom>
          <a:noFill/>
        </p:spPr>
        <p:txBody>
          <a:bodyPr wrap="square">
            <a:spAutoFit/>
          </a:bodyPr>
          <a:lstStyle/>
          <a:p>
            <a:pPr>
              <a:lnSpc>
                <a:spcPts val="5259"/>
              </a:lnSpc>
            </a:pPr>
            <a:r>
              <a:rPr lang="fr-FR" sz="3000" b="1" spc="-124" dirty="0">
                <a:solidFill>
                  <a:srgbClr val="000000"/>
                </a:solidFill>
              </a:rPr>
              <a:t>MODÉLISATION MATHÉMATIQUE</a:t>
            </a:r>
          </a:p>
        </p:txBody>
      </p:sp>
      <p:sp>
        <p:nvSpPr>
          <p:cNvPr id="43" name="ZoneTexte 42">
            <a:extLst>
              <a:ext uri="{FF2B5EF4-FFF2-40B4-BE49-F238E27FC236}">
                <a16:creationId xmlns:a16="http://schemas.microsoft.com/office/drawing/2014/main" id="{CC82BD7B-81A4-4520-9AD5-8EA029DC23D4}"/>
              </a:ext>
            </a:extLst>
          </p:cNvPr>
          <p:cNvSpPr txBox="1"/>
          <p:nvPr/>
        </p:nvSpPr>
        <p:spPr>
          <a:xfrm>
            <a:off x="872070" y="893044"/>
            <a:ext cx="7646897" cy="464871"/>
          </a:xfrm>
          <a:prstGeom prst="rect">
            <a:avLst/>
          </a:prstGeom>
          <a:noFill/>
        </p:spPr>
        <p:txBody>
          <a:bodyPr wrap="square">
            <a:spAutoFit/>
          </a:bodyPr>
          <a:lstStyle/>
          <a:p>
            <a:pPr algn="just">
              <a:lnSpc>
                <a:spcPct val="150000"/>
              </a:lnSpc>
            </a:pPr>
            <a:r>
              <a:rPr lang="fr-FR" b="1" dirty="0"/>
              <a:t>Dynamique Longitudinale du Véhicule</a:t>
            </a:r>
          </a:p>
        </p:txBody>
      </p:sp>
      <p:sp>
        <p:nvSpPr>
          <p:cNvPr id="2" name="ZoneTexte 42">
            <a:extLst>
              <a:ext uri="{FF2B5EF4-FFF2-40B4-BE49-F238E27FC236}">
                <a16:creationId xmlns:a16="http://schemas.microsoft.com/office/drawing/2014/main" id="{51F34B47-4542-8192-6850-6973D046444C}"/>
              </a:ext>
            </a:extLst>
          </p:cNvPr>
          <p:cNvSpPr txBox="1"/>
          <p:nvPr/>
        </p:nvSpPr>
        <p:spPr>
          <a:xfrm>
            <a:off x="748552" y="1361036"/>
            <a:ext cx="7646897" cy="464871"/>
          </a:xfrm>
          <a:prstGeom prst="rect">
            <a:avLst/>
          </a:prstGeom>
          <a:noFill/>
        </p:spPr>
        <p:txBody>
          <a:bodyPr wrap="square">
            <a:spAutoFit/>
          </a:bodyPr>
          <a:lstStyle/>
          <a:p>
            <a:pPr algn="just">
              <a:lnSpc>
                <a:spcPct val="150000"/>
              </a:lnSpc>
            </a:pPr>
            <a:r>
              <a:rPr lang="fr-FR" dirty="0"/>
              <a:t>Application du Principe Fondamental de la Dynamique sur l'axe d'avancement.</a:t>
            </a:r>
          </a:p>
        </p:txBody>
      </p:sp>
      <p:pic>
        <p:nvPicPr>
          <p:cNvPr id="6" name="Picture 5">
            <a:extLst>
              <a:ext uri="{FF2B5EF4-FFF2-40B4-BE49-F238E27FC236}">
                <a16:creationId xmlns:a16="http://schemas.microsoft.com/office/drawing/2014/main" id="{ED168D65-626D-C700-83AC-5373A67E5A5E}"/>
              </a:ext>
            </a:extLst>
          </p:cNvPr>
          <p:cNvPicPr>
            <a:picLocks noChangeAspect="1"/>
          </p:cNvPicPr>
          <p:nvPr/>
        </p:nvPicPr>
        <p:blipFill>
          <a:blip r:embed="rId3"/>
          <a:srcRect l="1440" t="15355" r="-1" b="19203"/>
          <a:stretch>
            <a:fillRect/>
          </a:stretch>
        </p:blipFill>
        <p:spPr>
          <a:xfrm>
            <a:off x="1485900" y="1893570"/>
            <a:ext cx="6263708" cy="688686"/>
          </a:xfrm>
          <a:prstGeom prst="rect">
            <a:avLst/>
          </a:prstGeom>
          <a:ln>
            <a:solidFill>
              <a:schemeClr val="tx1"/>
            </a:solidFill>
          </a:ln>
        </p:spPr>
      </p:pic>
      <p:pic>
        <p:nvPicPr>
          <p:cNvPr id="12" name="Picture 11">
            <a:extLst>
              <a:ext uri="{FF2B5EF4-FFF2-40B4-BE49-F238E27FC236}">
                <a16:creationId xmlns:a16="http://schemas.microsoft.com/office/drawing/2014/main" id="{F9EA8830-A9D6-DA21-0D3F-C5214CFF37FA}"/>
              </a:ext>
            </a:extLst>
          </p:cNvPr>
          <p:cNvPicPr>
            <a:picLocks noChangeAspect="1"/>
          </p:cNvPicPr>
          <p:nvPr/>
        </p:nvPicPr>
        <p:blipFill>
          <a:blip r:embed="rId4"/>
          <a:srcRect l="7642" b="38726"/>
          <a:stretch>
            <a:fillRect/>
          </a:stretch>
        </p:blipFill>
        <p:spPr>
          <a:xfrm>
            <a:off x="782113" y="2669078"/>
            <a:ext cx="6263708" cy="1600200"/>
          </a:xfrm>
          <a:prstGeom prst="rect">
            <a:avLst/>
          </a:prstGeom>
        </p:spPr>
      </p:pic>
      <p:pic>
        <p:nvPicPr>
          <p:cNvPr id="1026" name="Picture 2" descr="Diagramme de corps libre des forces de la dynamique longitudinale du véhicule, généré par IA">
            <a:extLst>
              <a:ext uri="{FF2B5EF4-FFF2-40B4-BE49-F238E27FC236}">
                <a16:creationId xmlns:a16="http://schemas.microsoft.com/office/drawing/2014/main" id="{F8495D07-9384-915B-8806-B0C4D34402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2594" y="2967908"/>
            <a:ext cx="1821952" cy="1457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633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70"/>
          <p:cNvGrpSpPr/>
          <p:nvPr/>
        </p:nvGrpSpPr>
        <p:grpSpPr>
          <a:xfrm rot="5400000">
            <a:off x="-1147496" y="2968243"/>
            <a:ext cx="3064640" cy="257175"/>
            <a:chOff x="0" y="0"/>
            <a:chExt cx="1614296" cy="135467"/>
          </a:xfrm>
        </p:grpSpPr>
        <p:sp>
          <p:nvSpPr>
            <p:cNvPr id="71" name="Freeform 71"/>
            <p:cNvSpPr/>
            <p:nvPr/>
          </p:nvSpPr>
          <p:spPr>
            <a:xfrm>
              <a:off x="0" y="0"/>
              <a:ext cx="1614296" cy="135467"/>
            </a:xfrm>
            <a:custGeom>
              <a:avLst/>
              <a:gdLst/>
              <a:ahLst/>
              <a:cxnLst/>
              <a:rect l="l" t="t" r="r" b="b"/>
              <a:pathLst>
                <a:path w="1614296" h="135467">
                  <a:moveTo>
                    <a:pt x="0" y="0"/>
                  </a:moveTo>
                  <a:lnTo>
                    <a:pt x="1614296" y="0"/>
                  </a:lnTo>
                  <a:lnTo>
                    <a:pt x="1614296" y="135467"/>
                  </a:lnTo>
                  <a:lnTo>
                    <a:pt x="0" y="135467"/>
                  </a:lnTo>
                  <a:close/>
                </a:path>
              </a:pathLst>
            </a:custGeom>
            <a:solidFill>
              <a:srgbClr val="DAE3E7"/>
            </a:solidFill>
          </p:spPr>
          <p:txBody>
            <a:bodyPr/>
            <a:lstStyle/>
            <a:p>
              <a:endParaRPr lang="en-US" sz="900"/>
            </a:p>
          </p:txBody>
        </p:sp>
        <p:sp>
          <p:nvSpPr>
            <p:cNvPr id="72" name="TextBox 72"/>
            <p:cNvSpPr txBox="1"/>
            <p:nvPr/>
          </p:nvSpPr>
          <p:spPr>
            <a:xfrm>
              <a:off x="0" y="-38100"/>
              <a:ext cx="1614296" cy="173567"/>
            </a:xfrm>
            <a:prstGeom prst="rect">
              <a:avLst/>
            </a:prstGeom>
          </p:spPr>
          <p:txBody>
            <a:bodyPr lIns="25400" tIns="25400" rIns="25400" bIns="25400" rtlCol="0" anchor="ctr"/>
            <a:lstStyle/>
            <a:p>
              <a:pPr algn="ctr">
                <a:lnSpc>
                  <a:spcPts val="1330"/>
                </a:lnSpc>
                <a:spcBef>
                  <a:spcPct val="0"/>
                </a:spcBef>
              </a:pPr>
              <a:endParaRPr lang="fr-FR" sz="900"/>
            </a:p>
          </p:txBody>
        </p:sp>
      </p:grpSp>
      <p:grpSp>
        <p:nvGrpSpPr>
          <p:cNvPr id="59" name="Group 10">
            <a:extLst>
              <a:ext uri="{FF2B5EF4-FFF2-40B4-BE49-F238E27FC236}">
                <a16:creationId xmlns:a16="http://schemas.microsoft.com/office/drawing/2014/main" id="{87D51F90-81C0-404E-80CA-4E4B259AFB1B}"/>
              </a:ext>
            </a:extLst>
          </p:cNvPr>
          <p:cNvGrpSpPr/>
          <p:nvPr/>
        </p:nvGrpSpPr>
        <p:grpSpPr>
          <a:xfrm>
            <a:off x="7986116" y="262152"/>
            <a:ext cx="868261" cy="870138"/>
            <a:chOff x="0" y="0"/>
            <a:chExt cx="2315362" cy="2320367"/>
          </a:xfrm>
        </p:grpSpPr>
        <p:grpSp>
          <p:nvGrpSpPr>
            <p:cNvPr id="60" name="Group 11">
              <a:extLst>
                <a:ext uri="{FF2B5EF4-FFF2-40B4-BE49-F238E27FC236}">
                  <a16:creationId xmlns:a16="http://schemas.microsoft.com/office/drawing/2014/main" id="{511889D3-9E5B-4DF0-919B-7607FE21A4E8}"/>
                </a:ext>
              </a:extLst>
            </p:cNvPr>
            <p:cNvGrpSpPr/>
            <p:nvPr/>
          </p:nvGrpSpPr>
          <p:grpSpPr>
            <a:xfrm>
              <a:off x="1420986" y="0"/>
              <a:ext cx="183882" cy="183969"/>
              <a:chOff x="0" y="0"/>
              <a:chExt cx="1811417" cy="1812273"/>
            </a:xfrm>
          </p:grpSpPr>
          <p:sp>
            <p:nvSpPr>
              <p:cNvPr id="94" name="Freeform 12">
                <a:extLst>
                  <a:ext uri="{FF2B5EF4-FFF2-40B4-BE49-F238E27FC236}">
                    <a16:creationId xmlns:a16="http://schemas.microsoft.com/office/drawing/2014/main" id="{F058D98A-7FC9-4135-B645-7E5DB3436CE3}"/>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5" name="TextBox 13">
                <a:extLst>
                  <a:ext uri="{FF2B5EF4-FFF2-40B4-BE49-F238E27FC236}">
                    <a16:creationId xmlns:a16="http://schemas.microsoft.com/office/drawing/2014/main" id="{2741C9C4-1BEA-44B1-9FEE-A2315D8678B1}"/>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1" name="Group 14">
              <a:extLst>
                <a:ext uri="{FF2B5EF4-FFF2-40B4-BE49-F238E27FC236}">
                  <a16:creationId xmlns:a16="http://schemas.microsoft.com/office/drawing/2014/main" id="{644ECDDD-9015-4F02-80DF-90026BAD9E69}"/>
                </a:ext>
              </a:extLst>
            </p:cNvPr>
            <p:cNvGrpSpPr/>
            <p:nvPr/>
          </p:nvGrpSpPr>
          <p:grpSpPr>
            <a:xfrm>
              <a:off x="1420986" y="708765"/>
              <a:ext cx="183882" cy="183969"/>
              <a:chOff x="0" y="0"/>
              <a:chExt cx="1811417" cy="1812273"/>
            </a:xfrm>
          </p:grpSpPr>
          <p:sp>
            <p:nvSpPr>
              <p:cNvPr id="92" name="Freeform 15">
                <a:extLst>
                  <a:ext uri="{FF2B5EF4-FFF2-40B4-BE49-F238E27FC236}">
                    <a16:creationId xmlns:a16="http://schemas.microsoft.com/office/drawing/2014/main" id="{67051045-648E-47E4-8842-9B052941490A}"/>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3" name="TextBox 16">
                <a:extLst>
                  <a:ext uri="{FF2B5EF4-FFF2-40B4-BE49-F238E27FC236}">
                    <a16:creationId xmlns:a16="http://schemas.microsoft.com/office/drawing/2014/main" id="{D35B7320-61BF-4BE6-B8E8-21B9EF5115FF}"/>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2" name="Group 17">
              <a:extLst>
                <a:ext uri="{FF2B5EF4-FFF2-40B4-BE49-F238E27FC236}">
                  <a16:creationId xmlns:a16="http://schemas.microsoft.com/office/drawing/2014/main" id="{19E05CF3-2D72-4981-8578-0D12840031CB}"/>
                </a:ext>
              </a:extLst>
            </p:cNvPr>
            <p:cNvGrpSpPr/>
            <p:nvPr/>
          </p:nvGrpSpPr>
          <p:grpSpPr>
            <a:xfrm>
              <a:off x="1420935" y="1419311"/>
              <a:ext cx="183882" cy="183969"/>
              <a:chOff x="0" y="0"/>
              <a:chExt cx="1811417" cy="1812273"/>
            </a:xfrm>
          </p:grpSpPr>
          <p:sp>
            <p:nvSpPr>
              <p:cNvPr id="90" name="Freeform 18">
                <a:extLst>
                  <a:ext uri="{FF2B5EF4-FFF2-40B4-BE49-F238E27FC236}">
                    <a16:creationId xmlns:a16="http://schemas.microsoft.com/office/drawing/2014/main" id="{8F819840-FDD5-4545-8266-BD2F5BE30E75}"/>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91" name="TextBox 19">
                <a:extLst>
                  <a:ext uri="{FF2B5EF4-FFF2-40B4-BE49-F238E27FC236}">
                    <a16:creationId xmlns:a16="http://schemas.microsoft.com/office/drawing/2014/main" id="{37B5FAB1-AC02-4AA7-8BA4-93054907A5A5}"/>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3" name="Group 20">
              <a:extLst>
                <a:ext uri="{FF2B5EF4-FFF2-40B4-BE49-F238E27FC236}">
                  <a16:creationId xmlns:a16="http://schemas.microsoft.com/office/drawing/2014/main" id="{BAED397C-3030-41FA-A2FC-8E4193762CC4}"/>
                </a:ext>
              </a:extLst>
            </p:cNvPr>
            <p:cNvGrpSpPr/>
            <p:nvPr/>
          </p:nvGrpSpPr>
          <p:grpSpPr>
            <a:xfrm>
              <a:off x="710493" y="0"/>
              <a:ext cx="183882" cy="183969"/>
              <a:chOff x="0" y="0"/>
              <a:chExt cx="1811417" cy="1812273"/>
            </a:xfrm>
          </p:grpSpPr>
          <p:sp>
            <p:nvSpPr>
              <p:cNvPr id="88" name="Freeform 21">
                <a:extLst>
                  <a:ext uri="{FF2B5EF4-FFF2-40B4-BE49-F238E27FC236}">
                    <a16:creationId xmlns:a16="http://schemas.microsoft.com/office/drawing/2014/main" id="{8B625E40-A3A3-4855-AB69-B1A8239A06F2}"/>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9" name="TextBox 22">
                <a:extLst>
                  <a:ext uri="{FF2B5EF4-FFF2-40B4-BE49-F238E27FC236}">
                    <a16:creationId xmlns:a16="http://schemas.microsoft.com/office/drawing/2014/main" id="{2530E0D5-4693-41CE-875E-0E6B79F18D18}"/>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4" name="Group 23">
              <a:extLst>
                <a:ext uri="{FF2B5EF4-FFF2-40B4-BE49-F238E27FC236}">
                  <a16:creationId xmlns:a16="http://schemas.microsoft.com/office/drawing/2014/main" id="{869D16AD-258D-40CA-93CF-65FB8AF86A89}"/>
                </a:ext>
              </a:extLst>
            </p:cNvPr>
            <p:cNvGrpSpPr/>
            <p:nvPr/>
          </p:nvGrpSpPr>
          <p:grpSpPr>
            <a:xfrm>
              <a:off x="710493" y="708765"/>
              <a:ext cx="183882" cy="183969"/>
              <a:chOff x="0" y="0"/>
              <a:chExt cx="1811417" cy="1812273"/>
            </a:xfrm>
          </p:grpSpPr>
          <p:sp>
            <p:nvSpPr>
              <p:cNvPr id="86" name="Freeform 24">
                <a:extLst>
                  <a:ext uri="{FF2B5EF4-FFF2-40B4-BE49-F238E27FC236}">
                    <a16:creationId xmlns:a16="http://schemas.microsoft.com/office/drawing/2014/main" id="{BFFDFD32-62D6-42A5-8DBD-5B9632B1FDC9}"/>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7" name="TextBox 25">
                <a:extLst>
                  <a:ext uri="{FF2B5EF4-FFF2-40B4-BE49-F238E27FC236}">
                    <a16:creationId xmlns:a16="http://schemas.microsoft.com/office/drawing/2014/main" id="{DC40B894-145D-424E-92C4-EC3F83C1505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5" name="Group 26">
              <a:extLst>
                <a:ext uri="{FF2B5EF4-FFF2-40B4-BE49-F238E27FC236}">
                  <a16:creationId xmlns:a16="http://schemas.microsoft.com/office/drawing/2014/main" id="{675B041E-3A9D-4DEB-BDF5-74EC56721076}"/>
                </a:ext>
              </a:extLst>
            </p:cNvPr>
            <p:cNvGrpSpPr/>
            <p:nvPr/>
          </p:nvGrpSpPr>
          <p:grpSpPr>
            <a:xfrm>
              <a:off x="0" y="0"/>
              <a:ext cx="183882" cy="183969"/>
              <a:chOff x="0" y="0"/>
              <a:chExt cx="1811417" cy="1812273"/>
            </a:xfrm>
          </p:grpSpPr>
          <p:sp>
            <p:nvSpPr>
              <p:cNvPr id="84" name="Freeform 27">
                <a:extLst>
                  <a:ext uri="{FF2B5EF4-FFF2-40B4-BE49-F238E27FC236}">
                    <a16:creationId xmlns:a16="http://schemas.microsoft.com/office/drawing/2014/main" id="{88B6D3CD-3EBE-4A7F-AFFA-D7B846D8AA1C}"/>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5" name="TextBox 28">
                <a:extLst>
                  <a:ext uri="{FF2B5EF4-FFF2-40B4-BE49-F238E27FC236}">
                    <a16:creationId xmlns:a16="http://schemas.microsoft.com/office/drawing/2014/main" id="{F979B15E-372B-4222-99C7-1B34123F2E57}"/>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6" name="Group 29">
              <a:extLst>
                <a:ext uri="{FF2B5EF4-FFF2-40B4-BE49-F238E27FC236}">
                  <a16:creationId xmlns:a16="http://schemas.microsoft.com/office/drawing/2014/main" id="{E691BD9B-9A29-4141-B7E4-FB822B1C7A0F}"/>
                </a:ext>
              </a:extLst>
            </p:cNvPr>
            <p:cNvGrpSpPr/>
            <p:nvPr/>
          </p:nvGrpSpPr>
          <p:grpSpPr>
            <a:xfrm>
              <a:off x="2131479" y="0"/>
              <a:ext cx="183882" cy="183969"/>
              <a:chOff x="0" y="0"/>
              <a:chExt cx="1811417" cy="1812273"/>
            </a:xfrm>
          </p:grpSpPr>
          <p:sp>
            <p:nvSpPr>
              <p:cNvPr id="82" name="Freeform 30">
                <a:extLst>
                  <a:ext uri="{FF2B5EF4-FFF2-40B4-BE49-F238E27FC236}">
                    <a16:creationId xmlns:a16="http://schemas.microsoft.com/office/drawing/2014/main" id="{141F0147-17AD-4322-AB2F-FED5D08CCBA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3" name="TextBox 31">
                <a:extLst>
                  <a:ext uri="{FF2B5EF4-FFF2-40B4-BE49-F238E27FC236}">
                    <a16:creationId xmlns:a16="http://schemas.microsoft.com/office/drawing/2014/main" id="{C46BFB08-E205-4DC2-AAA2-82CA98AE09B4}"/>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7" name="Group 32">
              <a:extLst>
                <a:ext uri="{FF2B5EF4-FFF2-40B4-BE49-F238E27FC236}">
                  <a16:creationId xmlns:a16="http://schemas.microsoft.com/office/drawing/2014/main" id="{1C92C7CA-B021-4EDF-A02D-861001EAFDAF}"/>
                </a:ext>
              </a:extLst>
            </p:cNvPr>
            <p:cNvGrpSpPr/>
            <p:nvPr/>
          </p:nvGrpSpPr>
          <p:grpSpPr>
            <a:xfrm>
              <a:off x="2131479" y="708765"/>
              <a:ext cx="183882" cy="183969"/>
              <a:chOff x="0" y="0"/>
              <a:chExt cx="1811417" cy="1812273"/>
            </a:xfrm>
          </p:grpSpPr>
          <p:sp>
            <p:nvSpPr>
              <p:cNvPr id="80" name="Freeform 33">
                <a:extLst>
                  <a:ext uri="{FF2B5EF4-FFF2-40B4-BE49-F238E27FC236}">
                    <a16:creationId xmlns:a16="http://schemas.microsoft.com/office/drawing/2014/main" id="{2BF4A1C6-69BF-44B1-8022-F5D7AC0E6E1C}"/>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81" name="TextBox 34">
                <a:extLst>
                  <a:ext uri="{FF2B5EF4-FFF2-40B4-BE49-F238E27FC236}">
                    <a16:creationId xmlns:a16="http://schemas.microsoft.com/office/drawing/2014/main" id="{536A500C-724A-47E3-BEF6-F001689DE1AC}"/>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8" name="Group 35">
              <a:extLst>
                <a:ext uri="{FF2B5EF4-FFF2-40B4-BE49-F238E27FC236}">
                  <a16:creationId xmlns:a16="http://schemas.microsoft.com/office/drawing/2014/main" id="{52A1CE83-EF18-4C4B-9D0F-B97D438B907D}"/>
                </a:ext>
              </a:extLst>
            </p:cNvPr>
            <p:cNvGrpSpPr/>
            <p:nvPr/>
          </p:nvGrpSpPr>
          <p:grpSpPr>
            <a:xfrm>
              <a:off x="2131428" y="1419311"/>
              <a:ext cx="183882" cy="183969"/>
              <a:chOff x="0" y="0"/>
              <a:chExt cx="1811417" cy="1812273"/>
            </a:xfrm>
          </p:grpSpPr>
          <p:sp>
            <p:nvSpPr>
              <p:cNvPr id="78" name="Freeform 36">
                <a:extLst>
                  <a:ext uri="{FF2B5EF4-FFF2-40B4-BE49-F238E27FC236}">
                    <a16:creationId xmlns:a16="http://schemas.microsoft.com/office/drawing/2014/main" id="{C04B9160-1854-4E52-AD4B-781DFC8ADDC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79" name="TextBox 37">
                <a:extLst>
                  <a:ext uri="{FF2B5EF4-FFF2-40B4-BE49-F238E27FC236}">
                    <a16:creationId xmlns:a16="http://schemas.microsoft.com/office/drawing/2014/main" id="{0C1235C2-B129-4A04-8FDA-7E5DE79CDFA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nvGrpSpPr>
            <p:cNvPr id="69" name="Group 38">
              <a:extLst>
                <a:ext uri="{FF2B5EF4-FFF2-40B4-BE49-F238E27FC236}">
                  <a16:creationId xmlns:a16="http://schemas.microsoft.com/office/drawing/2014/main" id="{E112A8C0-B99F-4903-817D-F1D99395D275}"/>
                </a:ext>
              </a:extLst>
            </p:cNvPr>
            <p:cNvGrpSpPr/>
            <p:nvPr/>
          </p:nvGrpSpPr>
          <p:grpSpPr>
            <a:xfrm>
              <a:off x="2131428" y="2136398"/>
              <a:ext cx="183882" cy="183969"/>
              <a:chOff x="0" y="0"/>
              <a:chExt cx="1811417" cy="1812273"/>
            </a:xfrm>
          </p:grpSpPr>
          <p:sp>
            <p:nvSpPr>
              <p:cNvPr id="73" name="Freeform 39">
                <a:extLst>
                  <a:ext uri="{FF2B5EF4-FFF2-40B4-BE49-F238E27FC236}">
                    <a16:creationId xmlns:a16="http://schemas.microsoft.com/office/drawing/2014/main" id="{A17B95F6-2DB7-4AC0-9137-41DD875FEDCF}"/>
                  </a:ext>
                </a:extLst>
              </p:cNvPr>
              <p:cNvSpPr/>
              <p:nvPr/>
            </p:nvSpPr>
            <p:spPr>
              <a:xfrm>
                <a:off x="0" y="0"/>
                <a:ext cx="1811417" cy="1812273"/>
              </a:xfrm>
              <a:custGeom>
                <a:avLst/>
                <a:gdLst/>
                <a:ahLst/>
                <a:cxnLst/>
                <a:rect l="l" t="t" r="r" b="b"/>
                <a:pathLst>
                  <a:path w="1811417" h="1812273">
                    <a:moveTo>
                      <a:pt x="62346" y="0"/>
                    </a:moveTo>
                    <a:lnTo>
                      <a:pt x="1749071" y="0"/>
                    </a:lnTo>
                    <a:cubicBezTo>
                      <a:pt x="1783504" y="0"/>
                      <a:pt x="1811417" y="27913"/>
                      <a:pt x="1811417" y="62346"/>
                    </a:cubicBezTo>
                    <a:lnTo>
                      <a:pt x="1811417" y="1749927"/>
                    </a:lnTo>
                    <a:cubicBezTo>
                      <a:pt x="1811417" y="1784360"/>
                      <a:pt x="1783504" y="1812273"/>
                      <a:pt x="1749071" y="1812273"/>
                    </a:cubicBezTo>
                    <a:lnTo>
                      <a:pt x="62346" y="1812273"/>
                    </a:lnTo>
                    <a:cubicBezTo>
                      <a:pt x="27913" y="1812273"/>
                      <a:pt x="0" y="1784360"/>
                      <a:pt x="0" y="1749927"/>
                    </a:cubicBezTo>
                    <a:lnTo>
                      <a:pt x="0" y="62346"/>
                    </a:lnTo>
                    <a:cubicBezTo>
                      <a:pt x="0" y="27913"/>
                      <a:pt x="27913" y="0"/>
                      <a:pt x="62346" y="0"/>
                    </a:cubicBezTo>
                    <a:close/>
                  </a:path>
                </a:pathLst>
              </a:custGeom>
              <a:solidFill>
                <a:srgbClr val="84A2AE"/>
              </a:solidFill>
            </p:spPr>
            <p:txBody>
              <a:bodyPr/>
              <a:lstStyle/>
              <a:p>
                <a:endParaRPr lang="en-US" sz="900"/>
              </a:p>
            </p:txBody>
          </p:sp>
          <p:sp>
            <p:nvSpPr>
              <p:cNvPr id="77" name="TextBox 40">
                <a:extLst>
                  <a:ext uri="{FF2B5EF4-FFF2-40B4-BE49-F238E27FC236}">
                    <a16:creationId xmlns:a16="http://schemas.microsoft.com/office/drawing/2014/main" id="{EB587B5C-D0AE-48C9-B404-1AB048ECB2CA}"/>
                  </a:ext>
                </a:extLst>
              </p:cNvPr>
              <p:cNvSpPr txBox="1"/>
              <p:nvPr/>
            </p:nvSpPr>
            <p:spPr>
              <a:xfrm>
                <a:off x="0" y="-38100"/>
                <a:ext cx="1811417" cy="1850373"/>
              </a:xfrm>
              <a:prstGeom prst="rect">
                <a:avLst/>
              </a:prstGeom>
            </p:spPr>
            <p:txBody>
              <a:bodyPr lIns="25400" tIns="25400" rIns="25400" bIns="25400" rtlCol="0" anchor="ctr"/>
              <a:lstStyle/>
              <a:p>
                <a:pPr algn="ctr">
                  <a:lnSpc>
                    <a:spcPts val="1330"/>
                  </a:lnSpc>
                  <a:spcBef>
                    <a:spcPct val="0"/>
                  </a:spcBef>
                </a:pPr>
                <a:endParaRPr sz="900"/>
              </a:p>
            </p:txBody>
          </p:sp>
        </p:grpSp>
      </p:grpSp>
      <p:sp>
        <p:nvSpPr>
          <p:cNvPr id="42" name="Google Shape;112;p17">
            <a:extLst>
              <a:ext uri="{FF2B5EF4-FFF2-40B4-BE49-F238E27FC236}">
                <a16:creationId xmlns:a16="http://schemas.microsoft.com/office/drawing/2014/main" id="{58E17CDB-4E13-47D8-9FC1-66AD73FB43FE}"/>
              </a:ext>
            </a:extLst>
          </p:cNvPr>
          <p:cNvSpPr txBox="1">
            <a:spLocks/>
          </p:cNvSpPr>
          <p:nvPr/>
        </p:nvSpPr>
        <p:spPr>
          <a:xfrm>
            <a:off x="8587922" y="4684548"/>
            <a:ext cx="548700" cy="39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300" b="1">
                <a:solidFill>
                  <a:schemeClr val="accent1"/>
                </a:solidFill>
                <a:latin typeface="+mn-lt"/>
                <a:ea typeface="Source Sans Pro"/>
              </a:rPr>
              <a:pPr algn="r"/>
              <a:t>8</a:t>
            </a:fld>
            <a:endParaRPr lang="en" sz="1300" b="1" dirty="0">
              <a:solidFill>
                <a:schemeClr val="accent1"/>
              </a:solidFill>
              <a:latin typeface="+mn-lt"/>
              <a:ea typeface="Source Sans Pro"/>
            </a:endParaRPr>
          </a:p>
        </p:txBody>
      </p:sp>
      <p:sp>
        <p:nvSpPr>
          <p:cNvPr id="40" name="ZoneTexte 39">
            <a:extLst>
              <a:ext uri="{FF2B5EF4-FFF2-40B4-BE49-F238E27FC236}">
                <a16:creationId xmlns:a16="http://schemas.microsoft.com/office/drawing/2014/main" id="{736E7AB4-57CF-4AE7-93BE-22FAC0833349}"/>
              </a:ext>
            </a:extLst>
          </p:cNvPr>
          <p:cNvSpPr txBox="1"/>
          <p:nvPr/>
        </p:nvSpPr>
        <p:spPr>
          <a:xfrm>
            <a:off x="769054" y="1019194"/>
            <a:ext cx="7020279" cy="400110"/>
          </a:xfrm>
          <a:prstGeom prst="rect">
            <a:avLst/>
          </a:prstGeom>
          <a:noFill/>
        </p:spPr>
        <p:txBody>
          <a:bodyPr wrap="square">
            <a:spAutoFit/>
          </a:bodyPr>
          <a:lstStyle/>
          <a:p>
            <a:r>
              <a:rPr lang="fr-FR" sz="2000" b="1" spc="150" dirty="0">
                <a:latin typeface="Body Grotesque"/>
                <a:ea typeface="Body Grotesque"/>
                <a:cs typeface="Body Grotesque"/>
                <a:sym typeface="Body Grotesque"/>
              </a:rPr>
              <a:t>Couplage Électromécanique</a:t>
            </a:r>
            <a:endParaRPr lang="fr-FR" sz="2000" b="1" spc="150" dirty="0"/>
          </a:p>
        </p:txBody>
      </p:sp>
      <p:sp>
        <p:nvSpPr>
          <p:cNvPr id="45" name="TextBox 56">
            <a:extLst>
              <a:ext uri="{FF2B5EF4-FFF2-40B4-BE49-F238E27FC236}">
                <a16:creationId xmlns:a16="http://schemas.microsoft.com/office/drawing/2014/main" id="{4C0AA7C5-DA1D-4767-8CD2-A870601379B5}"/>
              </a:ext>
            </a:extLst>
          </p:cNvPr>
          <p:cNvSpPr txBox="1"/>
          <p:nvPr/>
        </p:nvSpPr>
        <p:spPr>
          <a:xfrm>
            <a:off x="598442" y="295921"/>
            <a:ext cx="6297658" cy="611321"/>
          </a:xfrm>
          <a:prstGeom prst="rect">
            <a:avLst/>
          </a:prstGeom>
        </p:spPr>
        <p:txBody>
          <a:bodyPr wrap="square" lIns="0" tIns="0" rIns="0" bIns="0" rtlCol="0" anchor="t">
            <a:spAutoFit/>
          </a:bodyPr>
          <a:lstStyle/>
          <a:p>
            <a:pPr>
              <a:lnSpc>
                <a:spcPts val="5259"/>
              </a:lnSpc>
            </a:pPr>
            <a:r>
              <a:rPr lang="fr-FR" sz="3000" b="1" spc="-124" dirty="0">
                <a:solidFill>
                  <a:srgbClr val="000000"/>
                </a:solidFill>
                <a:ea typeface="Helvetica World Bold"/>
                <a:cs typeface="Helvetica World Bold"/>
                <a:sym typeface="Helvetica World Bold"/>
              </a:rPr>
              <a:t>Modélisation Moteur &amp; Transmission</a:t>
            </a:r>
          </a:p>
        </p:txBody>
      </p:sp>
      <p:sp>
        <p:nvSpPr>
          <p:cNvPr id="7" name="TextBox 6">
            <a:extLst>
              <a:ext uri="{FF2B5EF4-FFF2-40B4-BE49-F238E27FC236}">
                <a16:creationId xmlns:a16="http://schemas.microsoft.com/office/drawing/2014/main" id="{09CF5288-23AE-4E9C-4325-3CC96484ED1F}"/>
              </a:ext>
            </a:extLst>
          </p:cNvPr>
          <p:cNvSpPr txBox="1"/>
          <p:nvPr/>
        </p:nvSpPr>
        <p:spPr>
          <a:xfrm>
            <a:off x="769054" y="1405577"/>
            <a:ext cx="4578350" cy="430887"/>
          </a:xfrm>
          <a:prstGeom prst="rect">
            <a:avLst/>
          </a:prstGeom>
          <a:noFill/>
        </p:spPr>
        <p:txBody>
          <a:bodyPr wrap="square">
            <a:spAutoFit/>
          </a:bodyPr>
          <a:lstStyle/>
          <a:p>
            <a:r>
              <a:rPr lang="fr-FR" sz="2200" noProof="0" dirty="0"/>
              <a:t>Équations de couplage :</a:t>
            </a:r>
          </a:p>
        </p:txBody>
      </p:sp>
      <p:pic>
        <p:nvPicPr>
          <p:cNvPr id="9" name="Picture 8">
            <a:extLst>
              <a:ext uri="{FF2B5EF4-FFF2-40B4-BE49-F238E27FC236}">
                <a16:creationId xmlns:a16="http://schemas.microsoft.com/office/drawing/2014/main" id="{987F5EFD-8908-84C3-96C1-B127189E0EBD}"/>
              </a:ext>
            </a:extLst>
          </p:cNvPr>
          <p:cNvPicPr>
            <a:picLocks noChangeAspect="1"/>
          </p:cNvPicPr>
          <p:nvPr/>
        </p:nvPicPr>
        <p:blipFill>
          <a:blip r:embed="rId3"/>
          <a:srcRect b="3716"/>
          <a:stretch>
            <a:fillRect/>
          </a:stretch>
        </p:blipFill>
        <p:spPr>
          <a:xfrm>
            <a:off x="4743450" y="2028312"/>
            <a:ext cx="2247900" cy="849976"/>
          </a:xfrm>
          <a:prstGeom prst="rect">
            <a:avLst/>
          </a:prstGeom>
        </p:spPr>
      </p:pic>
      <p:sp>
        <p:nvSpPr>
          <p:cNvPr id="11" name="TextBox 10">
            <a:extLst>
              <a:ext uri="{FF2B5EF4-FFF2-40B4-BE49-F238E27FC236}">
                <a16:creationId xmlns:a16="http://schemas.microsoft.com/office/drawing/2014/main" id="{56B628D6-0044-25E9-667C-C1CF23099BC4}"/>
              </a:ext>
            </a:extLst>
          </p:cNvPr>
          <p:cNvSpPr txBox="1"/>
          <p:nvPr/>
        </p:nvSpPr>
        <p:spPr>
          <a:xfrm>
            <a:off x="1202177" y="1899342"/>
            <a:ext cx="4578350" cy="369332"/>
          </a:xfrm>
          <a:prstGeom prst="rect">
            <a:avLst/>
          </a:prstGeom>
          <a:noFill/>
        </p:spPr>
        <p:txBody>
          <a:bodyPr wrap="square">
            <a:spAutoFit/>
          </a:bodyPr>
          <a:lstStyle/>
          <a:p>
            <a:pPr marL="285750" indent="-285750">
              <a:buFont typeface="Arial" panose="020B0604020202020204" pitchFamily="34" charset="0"/>
              <a:buChar char="•"/>
            </a:pPr>
            <a:r>
              <a:rPr lang="fr-FR" dirty="0"/>
              <a:t>Vitesse de rotation du moteur </a:t>
            </a:r>
            <a:endParaRPr lang="en-US" dirty="0"/>
          </a:p>
        </p:txBody>
      </p:sp>
      <p:sp>
        <p:nvSpPr>
          <p:cNvPr id="12" name="TextBox 11">
            <a:extLst>
              <a:ext uri="{FF2B5EF4-FFF2-40B4-BE49-F238E27FC236}">
                <a16:creationId xmlns:a16="http://schemas.microsoft.com/office/drawing/2014/main" id="{1F5479B0-636E-7A3B-26AA-E5061581BA3D}"/>
              </a:ext>
            </a:extLst>
          </p:cNvPr>
          <p:cNvSpPr txBox="1"/>
          <p:nvPr/>
        </p:nvSpPr>
        <p:spPr>
          <a:xfrm>
            <a:off x="1202177" y="2672109"/>
            <a:ext cx="4578350" cy="369332"/>
          </a:xfrm>
          <a:prstGeom prst="rect">
            <a:avLst/>
          </a:prstGeom>
          <a:noFill/>
        </p:spPr>
        <p:txBody>
          <a:bodyPr wrap="square">
            <a:spAutoFit/>
          </a:bodyPr>
          <a:lstStyle/>
          <a:p>
            <a:pPr marL="285750" indent="-285750">
              <a:buFont typeface="Arial" panose="020B0604020202020204" pitchFamily="34" charset="0"/>
              <a:buChar char="•"/>
            </a:pPr>
            <a:r>
              <a:rPr lang="fr-FR" dirty="0"/>
              <a:t>Couple moteur généré (en régénération) :</a:t>
            </a:r>
            <a:endParaRPr lang="en-US" dirty="0"/>
          </a:p>
        </p:txBody>
      </p:sp>
      <p:pic>
        <p:nvPicPr>
          <p:cNvPr id="14" name="Picture 13">
            <a:extLst>
              <a:ext uri="{FF2B5EF4-FFF2-40B4-BE49-F238E27FC236}">
                <a16:creationId xmlns:a16="http://schemas.microsoft.com/office/drawing/2014/main" id="{980302D5-5463-29B8-4857-116C536A0D5C}"/>
              </a:ext>
            </a:extLst>
          </p:cNvPr>
          <p:cNvPicPr>
            <a:picLocks noChangeAspect="1"/>
          </p:cNvPicPr>
          <p:nvPr/>
        </p:nvPicPr>
        <p:blipFill>
          <a:blip r:embed="rId4"/>
          <a:stretch>
            <a:fillRect/>
          </a:stretch>
        </p:blipFill>
        <p:spPr>
          <a:xfrm>
            <a:off x="5168132" y="3020374"/>
            <a:ext cx="1727968" cy="630936"/>
          </a:xfrm>
          <a:prstGeom prst="rect">
            <a:avLst/>
          </a:prstGeom>
        </p:spPr>
      </p:pic>
      <p:sp>
        <p:nvSpPr>
          <p:cNvPr id="15" name="TextBox 14">
            <a:extLst>
              <a:ext uri="{FF2B5EF4-FFF2-40B4-BE49-F238E27FC236}">
                <a16:creationId xmlns:a16="http://schemas.microsoft.com/office/drawing/2014/main" id="{DC1F2BD1-C2DD-D29C-3F7C-EB7FFB156384}"/>
              </a:ext>
            </a:extLst>
          </p:cNvPr>
          <p:cNvSpPr txBox="1"/>
          <p:nvPr/>
        </p:nvSpPr>
        <p:spPr>
          <a:xfrm>
            <a:off x="1219200" y="3464627"/>
            <a:ext cx="4578350" cy="369332"/>
          </a:xfrm>
          <a:prstGeom prst="rect">
            <a:avLst/>
          </a:prstGeom>
          <a:noFill/>
        </p:spPr>
        <p:txBody>
          <a:bodyPr wrap="square">
            <a:spAutoFit/>
          </a:bodyPr>
          <a:lstStyle/>
          <a:p>
            <a:pPr marL="285750" indent="-285750">
              <a:buFont typeface="Arial" panose="020B0604020202020204" pitchFamily="34" charset="0"/>
              <a:buChar char="•"/>
            </a:pPr>
            <a:r>
              <a:rPr lang="fr-FR" dirty="0"/>
              <a:t>Puissance électrique récupérée :</a:t>
            </a:r>
            <a:endParaRPr lang="en-US" dirty="0"/>
          </a:p>
        </p:txBody>
      </p:sp>
      <p:pic>
        <p:nvPicPr>
          <p:cNvPr id="17" name="Picture 16">
            <a:extLst>
              <a:ext uri="{FF2B5EF4-FFF2-40B4-BE49-F238E27FC236}">
                <a16:creationId xmlns:a16="http://schemas.microsoft.com/office/drawing/2014/main" id="{A1A5449C-DD4D-C843-DCD5-BC219FD40268}"/>
              </a:ext>
            </a:extLst>
          </p:cNvPr>
          <p:cNvPicPr>
            <a:picLocks noChangeAspect="1"/>
          </p:cNvPicPr>
          <p:nvPr/>
        </p:nvPicPr>
        <p:blipFill>
          <a:blip r:embed="rId5"/>
          <a:stretch>
            <a:fillRect/>
          </a:stretch>
        </p:blipFill>
        <p:spPr>
          <a:xfrm>
            <a:off x="4918947" y="3861003"/>
            <a:ext cx="2498858" cy="371043"/>
          </a:xfrm>
          <a:prstGeom prst="rect">
            <a:avLst/>
          </a:prstGeom>
        </p:spPr>
      </p:pic>
      <p:sp>
        <p:nvSpPr>
          <p:cNvPr id="18" name="TextBox 17">
            <a:extLst>
              <a:ext uri="{FF2B5EF4-FFF2-40B4-BE49-F238E27FC236}">
                <a16:creationId xmlns:a16="http://schemas.microsoft.com/office/drawing/2014/main" id="{D12D1A78-71B1-2B48-E39F-A7ED0CB54AB5}"/>
              </a:ext>
            </a:extLst>
          </p:cNvPr>
          <p:cNvSpPr txBox="1"/>
          <p:nvPr/>
        </p:nvSpPr>
        <p:spPr>
          <a:xfrm>
            <a:off x="1066800" y="4327596"/>
            <a:ext cx="7254707" cy="646331"/>
          </a:xfrm>
          <a:prstGeom prst="rect">
            <a:avLst/>
          </a:prstGeom>
          <a:noFill/>
        </p:spPr>
        <p:txBody>
          <a:bodyPr wrap="square">
            <a:spAutoFit/>
          </a:bodyPr>
          <a:lstStyle/>
          <a:p>
            <a:pPr lvl="0" eaLnBrk="0" fontAlgn="base" hangingPunct="0">
              <a:spcBef>
                <a:spcPct val="0"/>
              </a:spcBef>
              <a:spcAft>
                <a:spcPct val="0"/>
              </a:spcAft>
            </a:pPr>
            <a:r>
              <a:rPr lang="en-US" altLang="en-US" b="1" dirty="0">
                <a:latin typeface="Google Sans Text"/>
              </a:rPr>
              <a:t>G </a:t>
            </a:r>
            <a:r>
              <a:rPr lang="en-US" altLang="en-US" dirty="0">
                <a:latin typeface="Google Sans Text"/>
              </a:rPr>
              <a:t>(Rapport de </a:t>
            </a:r>
            <a:r>
              <a:rPr lang="en-US" altLang="en-US" dirty="0" err="1">
                <a:latin typeface="Google Sans Text"/>
              </a:rPr>
              <a:t>réduction</a:t>
            </a:r>
            <a:r>
              <a:rPr lang="en-US" altLang="en-US" dirty="0">
                <a:latin typeface="Google Sans Text"/>
              </a:rPr>
              <a:t>), R </a:t>
            </a:r>
            <a:r>
              <a:rPr lang="en-US" altLang="en-US" sz="1600" dirty="0">
                <a:latin typeface="Google Sans Text"/>
              </a:rPr>
              <a:t>roue</a:t>
            </a:r>
            <a:r>
              <a:rPr lang="en-US" altLang="en-US" b="1" dirty="0">
                <a:latin typeface="Google Sans Text"/>
              </a:rPr>
              <a:t> </a:t>
            </a:r>
            <a:r>
              <a:rPr lang="en-US" altLang="en-US" dirty="0">
                <a:latin typeface="Google Sans Text"/>
              </a:rPr>
              <a:t>(Rayon de la roue),              </a:t>
            </a:r>
            <a:r>
              <a:rPr lang="en-US" altLang="en-US" dirty="0" err="1">
                <a:latin typeface="Google Sans Text"/>
              </a:rPr>
              <a:t>Rendement</a:t>
            </a:r>
            <a:r>
              <a:rPr lang="en-US" altLang="en-US" dirty="0">
                <a:latin typeface="Google Sans Text"/>
              </a:rPr>
              <a:t> global </a:t>
            </a:r>
            <a:r>
              <a:rPr lang="en-US" altLang="en-US" dirty="0" err="1">
                <a:latin typeface="Google Sans Text"/>
              </a:rPr>
              <a:t>onduleur</a:t>
            </a:r>
            <a:r>
              <a:rPr lang="en-US" altLang="en-US" dirty="0">
                <a:latin typeface="Google Sans Text"/>
              </a:rPr>
              <a:t> + </a:t>
            </a:r>
            <a:r>
              <a:rPr lang="en-US" altLang="en-US" dirty="0" err="1">
                <a:latin typeface="Google Sans Text"/>
              </a:rPr>
              <a:t>moteur</a:t>
            </a:r>
            <a:r>
              <a:rPr lang="en-US" altLang="en-US" dirty="0">
                <a:latin typeface="Google Sans Text"/>
              </a:rPr>
              <a:t>).  </a:t>
            </a:r>
            <a:endParaRPr lang="en-US" altLang="en-US" dirty="0">
              <a:latin typeface="Arial" panose="020B0604020202020204" pitchFamily="34" charset="0"/>
            </a:endParaRPr>
          </a:p>
        </p:txBody>
      </p:sp>
      <p:pic>
        <p:nvPicPr>
          <p:cNvPr id="22" name="Picture 21">
            <a:extLst>
              <a:ext uri="{FF2B5EF4-FFF2-40B4-BE49-F238E27FC236}">
                <a16:creationId xmlns:a16="http://schemas.microsoft.com/office/drawing/2014/main" id="{C6FFE8E3-76BC-A6CD-5D32-B2340A8A45AF}"/>
              </a:ext>
            </a:extLst>
          </p:cNvPr>
          <p:cNvPicPr>
            <a:picLocks noChangeAspect="1"/>
          </p:cNvPicPr>
          <p:nvPr/>
        </p:nvPicPr>
        <p:blipFill>
          <a:blip r:embed="rId6"/>
          <a:srcRect r="8787" b="9599"/>
          <a:stretch>
            <a:fillRect/>
          </a:stretch>
        </p:blipFill>
        <p:spPr>
          <a:xfrm>
            <a:off x="5956300" y="4327596"/>
            <a:ext cx="601952" cy="332387"/>
          </a:xfrm>
          <a:prstGeom prst="rect">
            <a:avLst/>
          </a:prstGeom>
        </p:spPr>
      </p:pic>
      <p:pic>
        <p:nvPicPr>
          <p:cNvPr id="5" name="Picture 4">
            <a:extLst>
              <a:ext uri="{FF2B5EF4-FFF2-40B4-BE49-F238E27FC236}">
                <a16:creationId xmlns:a16="http://schemas.microsoft.com/office/drawing/2014/main" id="{7196B2FE-E0D3-D389-38A5-498FDF6D1E5C}"/>
              </a:ext>
            </a:extLst>
          </p:cNvPr>
          <p:cNvPicPr>
            <a:picLocks noChangeAspect="1"/>
          </p:cNvPicPr>
          <p:nvPr/>
        </p:nvPicPr>
        <p:blipFill>
          <a:blip r:embed="rId7"/>
          <a:srcRect l="1822" t="15556" r="1261" b="6638"/>
          <a:stretch>
            <a:fillRect/>
          </a:stretch>
        </p:blipFill>
        <p:spPr>
          <a:xfrm>
            <a:off x="5867400" y="2519101"/>
            <a:ext cx="638175" cy="261502"/>
          </a:xfrm>
          <a:prstGeom prst="rect">
            <a:avLst/>
          </a:prstGeom>
        </p:spPr>
      </p:pic>
    </p:spTree>
    <p:extLst>
      <p:ext uri="{BB962C8B-B14F-4D97-AF65-F5344CB8AC3E}">
        <p14:creationId xmlns:p14="http://schemas.microsoft.com/office/powerpoint/2010/main" val="4021568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71500" y="658341"/>
            <a:ext cx="8572500" cy="411463"/>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0F172A"/>
                </a:solidFill>
                <a:latin typeface="Montserrat" pitchFamily="34" charset="0"/>
                <a:ea typeface="Montserrat" pitchFamily="34" charset="-122"/>
                <a:cs typeface="Montserrat" pitchFamily="34" charset="-120"/>
              </a:rPr>
              <a:t>Répartition de l'effort de freinage</a:t>
            </a:r>
            <a:endParaRPr lang="en-US" sz="2436" dirty="0"/>
          </a:p>
        </p:txBody>
      </p:sp>
      <p:sp>
        <p:nvSpPr>
          <p:cNvPr id="4" name="Text 1"/>
          <p:cNvSpPr/>
          <p:nvPr/>
        </p:nvSpPr>
        <p:spPr>
          <a:xfrm>
            <a:off x="571500" y="1284117"/>
            <a:ext cx="3857625" cy="191095"/>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0F172A"/>
                </a:solidFill>
                <a:latin typeface="Montserrat" pitchFamily="34" charset="0"/>
                <a:ea typeface="Montserrat" pitchFamily="34" charset="-122"/>
                <a:cs typeface="Montserrat" pitchFamily="34" charset="-120"/>
              </a:rPr>
              <a:t>PRINCIPE DE COOPÉRATION</a:t>
            </a:r>
            <a:endParaRPr lang="en-US" sz="1090" dirty="0"/>
          </a:p>
        </p:txBody>
      </p:sp>
      <p:sp>
        <p:nvSpPr>
          <p:cNvPr id="5" name="Shape 2"/>
          <p:cNvSpPr/>
          <p:nvPr/>
        </p:nvSpPr>
        <p:spPr>
          <a:xfrm>
            <a:off x="571500" y="1560937"/>
            <a:ext cx="3857625" cy="380740"/>
          </a:xfrm>
          <a:prstGeom prst="rect">
            <a:avLst/>
          </a:prstGeom>
          <a:solidFill>
            <a:srgbClr val="F8FAFC"/>
          </a:solidFill>
          <a:ln/>
        </p:spPr>
        <p:txBody>
          <a:bodyPr/>
          <a:lstStyle/>
          <a:p>
            <a:endParaRPr lang="en-US"/>
          </a:p>
        </p:txBody>
      </p:sp>
      <p:sp>
        <p:nvSpPr>
          <p:cNvPr id="6" name="Shape 3"/>
          <p:cNvSpPr/>
          <p:nvPr/>
        </p:nvSpPr>
        <p:spPr>
          <a:xfrm>
            <a:off x="571500" y="1560937"/>
            <a:ext cx="57150" cy="380740"/>
          </a:xfrm>
          <a:prstGeom prst="rect">
            <a:avLst/>
          </a:prstGeom>
          <a:solidFill>
            <a:srgbClr val="94A3B8"/>
          </a:solidFill>
          <a:ln/>
        </p:spPr>
        <p:txBody>
          <a:bodyPr/>
          <a:lstStyle/>
          <a:p>
            <a:endParaRPr lang="en-US"/>
          </a:p>
        </p:txBody>
      </p:sp>
      <p:sp>
        <p:nvSpPr>
          <p:cNvPr id="7" name="Text 4"/>
          <p:cNvSpPr/>
          <p:nvPr/>
        </p:nvSpPr>
        <p:spPr>
          <a:xfrm>
            <a:off x="714375" y="1703812"/>
            <a:ext cx="112514" cy="208955"/>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0F172A"/>
                </a:solidFill>
                <a:latin typeface="Montserrat" pitchFamily="34" charset="0"/>
                <a:ea typeface="Montserrat" pitchFamily="34" charset="-122"/>
                <a:cs typeface="Montserrat" pitchFamily="34" charset="-120"/>
              </a:rPr>
              <a:t>T</a:t>
            </a:r>
            <a:endParaRPr lang="en-US" sz="1269" dirty="0"/>
          </a:p>
        </p:txBody>
      </p:sp>
      <p:sp>
        <p:nvSpPr>
          <p:cNvPr id="8" name="Text 5"/>
          <p:cNvSpPr/>
          <p:nvPr/>
        </p:nvSpPr>
        <p:spPr>
          <a:xfrm>
            <a:off x="826889" y="1768441"/>
            <a:ext cx="164306" cy="173236"/>
          </a:xfrm>
          <a:prstGeom prst="rect">
            <a:avLst/>
          </a:prstGeom>
          <a:noFill/>
          <a:ln/>
        </p:spPr>
        <p:txBody>
          <a:bodyPr wrap="none" lIns="0" tIns="0" rIns="0" bIns="0" rtlCol="0" anchor="t">
            <a:spAutoFit/>
          </a:bodyPr>
          <a:lstStyle/>
          <a:p>
            <a:pPr marL="0" indent="0" algn="l">
              <a:lnSpc>
                <a:spcPts val="1400"/>
              </a:lnSpc>
              <a:buNone/>
            </a:pPr>
            <a:r>
              <a:rPr lang="en-US" sz="1050" baseline="-40000" dirty="0">
                <a:solidFill>
                  <a:srgbClr val="0F172A"/>
                </a:solidFill>
                <a:latin typeface="Montserrat" pitchFamily="34" charset="0"/>
                <a:ea typeface="Montserrat" pitchFamily="34" charset="-122"/>
                <a:cs typeface="Montserrat" pitchFamily="34" charset="-120"/>
              </a:rPr>
              <a:t>br</a:t>
            </a:r>
            <a:endParaRPr lang="en-US" sz="1050" dirty="0"/>
          </a:p>
        </p:txBody>
      </p:sp>
      <p:sp>
        <p:nvSpPr>
          <p:cNvPr id="9" name="Text 6"/>
          <p:cNvSpPr/>
          <p:nvPr/>
        </p:nvSpPr>
        <p:spPr>
          <a:xfrm>
            <a:off x="991195" y="1703812"/>
            <a:ext cx="323255" cy="208955"/>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0F172A"/>
                </a:solidFill>
                <a:latin typeface="Montserrat" pitchFamily="34" charset="0"/>
                <a:ea typeface="Montserrat" pitchFamily="34" charset="-122"/>
                <a:cs typeface="Montserrat" pitchFamily="34" charset="-120"/>
              </a:rPr>
              <a:t>= T</a:t>
            </a:r>
            <a:endParaRPr lang="en-US" sz="1269" dirty="0"/>
          </a:p>
        </p:txBody>
      </p:sp>
      <p:sp>
        <p:nvSpPr>
          <p:cNvPr id="10" name="Text 7"/>
          <p:cNvSpPr/>
          <p:nvPr/>
        </p:nvSpPr>
        <p:spPr>
          <a:xfrm>
            <a:off x="1314450" y="1768441"/>
            <a:ext cx="451842" cy="173236"/>
          </a:xfrm>
          <a:prstGeom prst="rect">
            <a:avLst/>
          </a:prstGeom>
          <a:noFill/>
          <a:ln/>
        </p:spPr>
        <p:txBody>
          <a:bodyPr wrap="none" lIns="0" tIns="0" rIns="0" bIns="0" rtlCol="0" anchor="t">
            <a:spAutoFit/>
          </a:bodyPr>
          <a:lstStyle/>
          <a:p>
            <a:pPr marL="0" indent="0" algn="l">
              <a:lnSpc>
                <a:spcPts val="1400"/>
              </a:lnSpc>
              <a:buNone/>
            </a:pPr>
            <a:r>
              <a:rPr lang="en-US" sz="1050" baseline="-40000" dirty="0">
                <a:solidFill>
                  <a:srgbClr val="0F172A"/>
                </a:solidFill>
                <a:latin typeface="Montserrat" pitchFamily="34" charset="0"/>
                <a:ea typeface="Montserrat" pitchFamily="34" charset="-122"/>
                <a:cs typeface="Montserrat" pitchFamily="34" charset="-120"/>
              </a:rPr>
              <a:t>regen</a:t>
            </a:r>
            <a:endParaRPr lang="en-US" sz="1050" dirty="0"/>
          </a:p>
        </p:txBody>
      </p:sp>
      <p:sp>
        <p:nvSpPr>
          <p:cNvPr id="11" name="Text 8"/>
          <p:cNvSpPr/>
          <p:nvPr/>
        </p:nvSpPr>
        <p:spPr>
          <a:xfrm>
            <a:off x="1766292" y="1703812"/>
            <a:ext cx="323255" cy="208955"/>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0F172A"/>
                </a:solidFill>
                <a:latin typeface="Montserrat" pitchFamily="34" charset="0"/>
                <a:ea typeface="Montserrat" pitchFamily="34" charset="-122"/>
                <a:cs typeface="Montserrat" pitchFamily="34" charset="-120"/>
              </a:rPr>
              <a:t>+ T</a:t>
            </a:r>
            <a:endParaRPr lang="en-US" sz="1269" dirty="0"/>
          </a:p>
        </p:txBody>
      </p:sp>
      <p:sp>
        <p:nvSpPr>
          <p:cNvPr id="12" name="Text 9"/>
          <p:cNvSpPr/>
          <p:nvPr/>
        </p:nvSpPr>
        <p:spPr>
          <a:xfrm>
            <a:off x="2089547" y="1768441"/>
            <a:ext cx="421481" cy="173236"/>
          </a:xfrm>
          <a:prstGeom prst="rect">
            <a:avLst/>
          </a:prstGeom>
          <a:noFill/>
          <a:ln/>
        </p:spPr>
        <p:txBody>
          <a:bodyPr wrap="none" lIns="0" tIns="0" rIns="0" bIns="0" rtlCol="0" anchor="t">
            <a:spAutoFit/>
          </a:bodyPr>
          <a:lstStyle/>
          <a:p>
            <a:pPr marL="0" indent="0" algn="l">
              <a:lnSpc>
                <a:spcPts val="1400"/>
              </a:lnSpc>
              <a:buNone/>
            </a:pPr>
            <a:r>
              <a:rPr lang="en-US" sz="1050" baseline="-40000" dirty="0">
                <a:solidFill>
                  <a:srgbClr val="0F172A"/>
                </a:solidFill>
                <a:latin typeface="Montserrat" pitchFamily="34" charset="0"/>
                <a:ea typeface="Montserrat" pitchFamily="34" charset="-122"/>
                <a:cs typeface="Montserrat" pitchFamily="34" charset="-120"/>
              </a:rPr>
              <a:t>meca</a:t>
            </a:r>
            <a:endParaRPr lang="en-US" sz="1050" dirty="0"/>
          </a:p>
        </p:txBody>
      </p:sp>
      <p:sp>
        <p:nvSpPr>
          <p:cNvPr id="13" name="Shape 10"/>
          <p:cNvSpPr/>
          <p:nvPr/>
        </p:nvSpPr>
        <p:spPr>
          <a:xfrm>
            <a:off x="571500" y="2084552"/>
            <a:ext cx="57150" cy="385763"/>
          </a:xfrm>
          <a:prstGeom prst="rect">
            <a:avLst/>
          </a:prstGeom>
          <a:solidFill>
            <a:srgbClr val="DC2626"/>
          </a:solidFill>
          <a:ln/>
        </p:spPr>
        <p:txBody>
          <a:bodyPr/>
          <a:lstStyle/>
          <a:p>
            <a:endParaRPr lang="en-US"/>
          </a:p>
        </p:txBody>
      </p:sp>
      <p:sp>
        <p:nvSpPr>
          <p:cNvPr id="14" name="Text 11"/>
          <p:cNvSpPr/>
          <p:nvPr/>
        </p:nvSpPr>
        <p:spPr>
          <a:xfrm>
            <a:off x="571500" y="2084552"/>
            <a:ext cx="3857625" cy="385763"/>
          </a:xfrm>
          <a:prstGeom prst="rect">
            <a:avLst/>
          </a:prstGeom>
          <a:noFill/>
          <a:ln/>
        </p:spPr>
        <p:txBody>
          <a:bodyPr wrap="square" lIns="255143" tIns="0" rIns="0" bIns="0" rtlCol="0" anchor="t">
            <a:spAutoFit/>
          </a:bodyPr>
          <a:lstStyle/>
          <a:p>
            <a:pPr marL="0" indent="0" algn="l">
              <a:lnSpc>
                <a:spcPts val="1500"/>
              </a:lnSpc>
              <a:buNone/>
            </a:pPr>
            <a:r>
              <a:rPr lang="en-US" sz="885" b="1" dirty="0">
                <a:solidFill>
                  <a:srgbClr val="0F172A"/>
                </a:solidFill>
                <a:latin typeface="Lora" pitchFamily="34" charset="0"/>
                <a:ea typeface="Lora" pitchFamily="34" charset="-122"/>
                <a:cs typeface="Lora" pitchFamily="34" charset="-120"/>
              </a:rPr>
              <a:t>Priorité Régénérative :</a:t>
            </a:r>
            <a:r>
              <a:rPr lang="en-US" sz="942" dirty="0">
                <a:solidFill>
                  <a:srgbClr val="475569"/>
                </a:solidFill>
                <a:latin typeface="Lora" pitchFamily="34" charset="0"/>
                <a:ea typeface="Lora" pitchFamily="34" charset="-122"/>
                <a:cs typeface="Lora" pitchFamily="34" charset="-120"/>
              </a:rPr>
              <a:t> Le moteur électrique est sollicité en premier pour maximiser la récupération.</a:t>
            </a:r>
            <a:endParaRPr lang="en-US" sz="942" dirty="0"/>
          </a:p>
        </p:txBody>
      </p:sp>
      <p:sp>
        <p:nvSpPr>
          <p:cNvPr id="15" name="Shape 12"/>
          <p:cNvSpPr/>
          <p:nvPr/>
        </p:nvSpPr>
        <p:spPr>
          <a:xfrm>
            <a:off x="571500" y="2598902"/>
            <a:ext cx="57150" cy="404320"/>
          </a:xfrm>
          <a:prstGeom prst="rect">
            <a:avLst/>
          </a:prstGeom>
          <a:solidFill>
            <a:srgbClr val="DC2626"/>
          </a:solidFill>
          <a:ln/>
        </p:spPr>
        <p:txBody>
          <a:bodyPr/>
          <a:lstStyle/>
          <a:p>
            <a:endParaRPr lang="en-US"/>
          </a:p>
        </p:txBody>
      </p:sp>
      <p:sp>
        <p:nvSpPr>
          <p:cNvPr id="16" name="Text 13"/>
          <p:cNvSpPr/>
          <p:nvPr/>
        </p:nvSpPr>
        <p:spPr>
          <a:xfrm>
            <a:off x="785813" y="2623905"/>
            <a:ext cx="1421383" cy="142875"/>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F172A"/>
                </a:solidFill>
                <a:latin typeface="Lora" pitchFamily="34" charset="0"/>
                <a:ea typeface="Lora" pitchFamily="34" charset="-122"/>
                <a:cs typeface="Lora" pitchFamily="34" charset="-120"/>
              </a:rPr>
              <a:t>Complément Mécanique :</a:t>
            </a:r>
            <a:endParaRPr lang="en-US" sz="885" dirty="0"/>
          </a:p>
        </p:txBody>
      </p:sp>
      <p:sp>
        <p:nvSpPr>
          <p:cNvPr id="17" name="Text 14"/>
          <p:cNvSpPr/>
          <p:nvPr/>
        </p:nvSpPr>
        <p:spPr>
          <a:xfrm>
            <a:off x="2207196" y="2623905"/>
            <a:ext cx="1903335" cy="142875"/>
          </a:xfrm>
          <a:prstGeom prst="rect">
            <a:avLst/>
          </a:prstGeom>
          <a:noFill/>
          <a:ln/>
        </p:spPr>
        <p:txBody>
          <a:bodyPr wrap="none" lIns="0" tIns="0" rIns="0" bIns="0" rtlCol="0" anchor="t">
            <a:spAutoFit/>
          </a:bodyPr>
          <a:lstStyle/>
          <a:p>
            <a:pPr marL="0" indent="0" algn="l">
              <a:lnSpc>
                <a:spcPts val="1500"/>
              </a:lnSpc>
              <a:buNone/>
            </a:pPr>
            <a:r>
              <a:rPr lang="en-US" sz="942" dirty="0">
                <a:solidFill>
                  <a:srgbClr val="475569"/>
                </a:solidFill>
                <a:latin typeface="Lora" pitchFamily="34" charset="0"/>
                <a:ea typeface="Lora" pitchFamily="34" charset="-122"/>
                <a:cs typeface="Lora" pitchFamily="34" charset="-120"/>
              </a:rPr>
              <a:t>Le système hydraulique intervient si</a:t>
            </a:r>
            <a:endParaRPr lang="en-US" sz="942" dirty="0"/>
          </a:p>
        </p:txBody>
      </p:sp>
      <p:sp>
        <p:nvSpPr>
          <p:cNvPr id="18" name="Text 15"/>
          <p:cNvSpPr/>
          <p:nvPr/>
        </p:nvSpPr>
        <p:spPr>
          <a:xfrm>
            <a:off x="785813" y="2816786"/>
            <a:ext cx="78553" cy="142875"/>
          </a:xfrm>
          <a:prstGeom prst="rect">
            <a:avLst/>
          </a:prstGeom>
          <a:noFill/>
          <a:ln/>
        </p:spPr>
        <p:txBody>
          <a:bodyPr wrap="none" lIns="0" tIns="0" rIns="0" bIns="0" rtlCol="0" anchor="t">
            <a:spAutoFit/>
          </a:bodyPr>
          <a:lstStyle/>
          <a:p>
            <a:pPr marL="0" indent="0" algn="l">
              <a:lnSpc>
                <a:spcPts val="1500"/>
              </a:lnSpc>
              <a:buNone/>
            </a:pPr>
            <a:r>
              <a:rPr lang="en-US" sz="942" dirty="0">
                <a:solidFill>
                  <a:srgbClr val="475569"/>
                </a:solidFill>
                <a:latin typeface="Lora" pitchFamily="34" charset="0"/>
                <a:ea typeface="Lora" pitchFamily="34" charset="-122"/>
                <a:cs typeface="Lora" pitchFamily="34" charset="-120"/>
              </a:rPr>
              <a:t>T</a:t>
            </a:r>
            <a:endParaRPr lang="en-US" sz="942" dirty="0"/>
          </a:p>
        </p:txBody>
      </p:sp>
      <p:sp>
        <p:nvSpPr>
          <p:cNvPr id="19" name="Text 16"/>
          <p:cNvSpPr/>
          <p:nvPr/>
        </p:nvSpPr>
        <p:spPr>
          <a:xfrm>
            <a:off x="864366" y="2863918"/>
            <a:ext cx="237976" cy="117872"/>
          </a:xfrm>
          <a:prstGeom prst="rect">
            <a:avLst/>
          </a:prstGeom>
          <a:noFill/>
          <a:ln/>
        </p:spPr>
        <p:txBody>
          <a:bodyPr wrap="none" lIns="0" tIns="0" rIns="0" bIns="0" rtlCol="0" anchor="t">
            <a:spAutoFit/>
          </a:bodyPr>
          <a:lstStyle/>
          <a:p>
            <a:pPr marL="0" indent="0" algn="l">
              <a:lnSpc>
                <a:spcPts val="1300"/>
              </a:lnSpc>
              <a:buNone/>
            </a:pPr>
            <a:r>
              <a:rPr lang="en-US" sz="780" baseline="-40000" dirty="0">
                <a:solidFill>
                  <a:srgbClr val="475569"/>
                </a:solidFill>
                <a:latin typeface="Lora" pitchFamily="34" charset="0"/>
                <a:ea typeface="Lora" pitchFamily="34" charset="-122"/>
                <a:cs typeface="Lora" pitchFamily="34" charset="-120"/>
              </a:rPr>
              <a:t>regen</a:t>
            </a:r>
            <a:endParaRPr lang="en-US" sz="780" dirty="0"/>
          </a:p>
        </p:txBody>
      </p:sp>
      <p:sp>
        <p:nvSpPr>
          <p:cNvPr id="20" name="Text 17"/>
          <p:cNvSpPr/>
          <p:nvPr/>
        </p:nvSpPr>
        <p:spPr>
          <a:xfrm>
            <a:off x="1102342" y="2816786"/>
            <a:ext cx="1279736" cy="142875"/>
          </a:xfrm>
          <a:prstGeom prst="rect">
            <a:avLst/>
          </a:prstGeom>
          <a:noFill/>
          <a:ln/>
        </p:spPr>
        <p:txBody>
          <a:bodyPr wrap="none" lIns="0" tIns="0" rIns="0" bIns="0" rtlCol="0" anchor="t">
            <a:spAutoFit/>
          </a:bodyPr>
          <a:lstStyle/>
          <a:p>
            <a:pPr marL="0" indent="0" algn="l">
              <a:lnSpc>
                <a:spcPts val="1500"/>
              </a:lnSpc>
              <a:buNone/>
            </a:pPr>
            <a:r>
              <a:rPr lang="en-US" sz="942" dirty="0">
                <a:solidFill>
                  <a:srgbClr val="475569"/>
                </a:solidFill>
                <a:latin typeface="Lora" pitchFamily="34" charset="0"/>
                <a:ea typeface="Lora" pitchFamily="34" charset="-122"/>
                <a:cs typeface="Lora" pitchFamily="34" charset="-120"/>
              </a:rPr>
              <a:t>est saturé ou insuffisant.</a:t>
            </a:r>
            <a:endParaRPr lang="en-US" sz="942" dirty="0"/>
          </a:p>
        </p:txBody>
      </p:sp>
      <p:sp>
        <p:nvSpPr>
          <p:cNvPr id="21" name="Shape 18"/>
          <p:cNvSpPr/>
          <p:nvPr/>
        </p:nvSpPr>
        <p:spPr>
          <a:xfrm>
            <a:off x="571500" y="3131809"/>
            <a:ext cx="57150" cy="385763"/>
          </a:xfrm>
          <a:prstGeom prst="rect">
            <a:avLst/>
          </a:prstGeom>
          <a:solidFill>
            <a:srgbClr val="DC2626"/>
          </a:solidFill>
          <a:ln/>
        </p:spPr>
        <p:txBody>
          <a:bodyPr/>
          <a:lstStyle/>
          <a:p>
            <a:endParaRPr lang="en-US"/>
          </a:p>
        </p:txBody>
      </p:sp>
      <p:sp>
        <p:nvSpPr>
          <p:cNvPr id="22" name="Text 19"/>
          <p:cNvSpPr/>
          <p:nvPr/>
        </p:nvSpPr>
        <p:spPr>
          <a:xfrm>
            <a:off x="571500" y="3131809"/>
            <a:ext cx="3857625" cy="385763"/>
          </a:xfrm>
          <a:prstGeom prst="rect">
            <a:avLst/>
          </a:prstGeom>
          <a:noFill/>
          <a:ln/>
        </p:spPr>
        <p:txBody>
          <a:bodyPr wrap="square" lIns="255143" tIns="0" rIns="0" bIns="0" rtlCol="0" anchor="t">
            <a:spAutoFit/>
          </a:bodyPr>
          <a:lstStyle/>
          <a:p>
            <a:pPr marL="0" indent="0" algn="l">
              <a:lnSpc>
                <a:spcPts val="1500"/>
              </a:lnSpc>
              <a:buNone/>
            </a:pPr>
            <a:r>
              <a:rPr lang="en-US" sz="885" b="1" dirty="0">
                <a:solidFill>
                  <a:srgbClr val="0F172A"/>
                </a:solidFill>
                <a:latin typeface="Lora" pitchFamily="34" charset="0"/>
                <a:ea typeface="Lora" pitchFamily="34" charset="-122"/>
                <a:cs typeface="Lora" pitchFamily="34" charset="-120"/>
              </a:rPr>
              <a:t>Sécurité :</a:t>
            </a:r>
            <a:r>
              <a:rPr lang="en-US" sz="942" dirty="0">
                <a:solidFill>
                  <a:srgbClr val="475569"/>
                </a:solidFill>
                <a:latin typeface="Lora" pitchFamily="34" charset="0"/>
                <a:ea typeface="Lora" pitchFamily="34" charset="-122"/>
                <a:cs typeface="Lora" pitchFamily="34" charset="-120"/>
              </a:rPr>
              <a:t> Le freinage mécanique reste indispensable à basse vitesse et en cas d'urgence.</a:t>
            </a:r>
            <a:endParaRPr lang="en-US" sz="942" dirty="0"/>
          </a:p>
        </p:txBody>
      </p:sp>
      <p:sp>
        <p:nvSpPr>
          <p:cNvPr id="23" name="Text 20"/>
          <p:cNvSpPr/>
          <p:nvPr/>
        </p:nvSpPr>
        <p:spPr>
          <a:xfrm>
            <a:off x="5790142" y="1989004"/>
            <a:ext cx="3857625" cy="191095"/>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0F172A"/>
                </a:solidFill>
                <a:latin typeface="Montserrat" pitchFamily="34" charset="0"/>
                <a:ea typeface="Montserrat" pitchFamily="34" charset="-122"/>
                <a:cs typeface="Montserrat" pitchFamily="34" charset="-120"/>
              </a:rPr>
              <a:t>VISUALISATION DE LA STRATÉGIE</a:t>
            </a:r>
            <a:endParaRPr lang="en-US" sz="1090" dirty="0"/>
          </a:p>
        </p:txBody>
      </p:sp>
      <p:pic>
        <p:nvPicPr>
          <p:cNvPr id="24" name="Image 1" descr="preencoded.png"/>
          <p:cNvPicPr>
            <a:picLocks noChangeAspect="1"/>
          </p:cNvPicPr>
          <p:nvPr/>
        </p:nvPicPr>
        <p:blipFill>
          <a:blip r:embed="rId3"/>
          <a:stretch>
            <a:fillRect/>
          </a:stretch>
        </p:blipFill>
        <p:spPr>
          <a:xfrm>
            <a:off x="5374113" y="2446010"/>
            <a:ext cx="3491503" cy="1939724"/>
          </a:xfrm>
          <a:prstGeom prst="rect">
            <a:avLst/>
          </a:prstGeom>
        </p:spPr>
      </p:pic>
      <p:pic>
        <p:nvPicPr>
          <p:cNvPr id="25" name="Picture 24">
            <a:extLst>
              <a:ext uri="{FF2B5EF4-FFF2-40B4-BE49-F238E27FC236}">
                <a16:creationId xmlns:a16="http://schemas.microsoft.com/office/drawing/2014/main" id="{8DE01F0B-2A77-6FC0-FC90-009BE34EB798}"/>
              </a:ext>
            </a:extLst>
          </p:cNvPr>
          <p:cNvPicPr>
            <a:picLocks noChangeAspect="1"/>
          </p:cNvPicPr>
          <p:nvPr/>
        </p:nvPicPr>
        <p:blipFill>
          <a:blip r:embed="rId4"/>
          <a:stretch>
            <a:fillRect/>
          </a:stretch>
        </p:blipFill>
        <p:spPr>
          <a:xfrm>
            <a:off x="382841" y="1198390"/>
            <a:ext cx="4935366" cy="28910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 0"/>
          <p:cNvSpPr/>
          <p:nvPr/>
        </p:nvSpPr>
        <p:spPr>
          <a:xfrm>
            <a:off x="571500" y="297277"/>
            <a:ext cx="3040897" cy="369332"/>
          </a:xfrm>
          <a:prstGeom prst="rect">
            <a:avLst/>
          </a:prstGeom>
          <a:noFill/>
          <a:ln/>
        </p:spPr>
        <p:txBody>
          <a:bodyPr wrap="none" lIns="0" tIns="0" rIns="0" bIns="0" rtlCol="0" anchor="t">
            <a:spAutoFit/>
          </a:bodyPr>
          <a:lstStyle/>
          <a:p>
            <a:r>
              <a:rPr lang="en-US" sz="2400" b="1" dirty="0" err="1">
                <a:latin typeface="Times New Roman" panose="02020603050405020304" pitchFamily="18" charset="0"/>
                <a:cs typeface="Times New Roman" panose="02020603050405020304" pitchFamily="18" charset="0"/>
              </a:rPr>
              <a:t>Algorithme</a:t>
            </a:r>
            <a:r>
              <a:rPr lang="en-US" sz="2400" b="1" dirty="0">
                <a:latin typeface="Times New Roman" panose="02020603050405020304" pitchFamily="18" charset="0"/>
                <a:cs typeface="Times New Roman" panose="02020603050405020304" pitchFamily="18" charset="0"/>
              </a:rPr>
              <a:t> de </a:t>
            </a:r>
            <a:r>
              <a:rPr lang="en-US" sz="2400" b="1" dirty="0" err="1">
                <a:latin typeface="Times New Roman" panose="02020603050405020304" pitchFamily="18" charset="0"/>
                <a:cs typeface="Times New Roman" panose="02020603050405020304" pitchFamily="18" charset="0"/>
              </a:rPr>
              <a:t>contrôle</a:t>
            </a:r>
            <a:endParaRPr lang="en-US" sz="2400" dirty="0">
              <a:latin typeface="Times New Roman" panose="02020603050405020304" pitchFamily="18" charset="0"/>
              <a:cs typeface="Times New Roman" panose="02020603050405020304" pitchFamily="18" charset="0"/>
            </a:endParaRPr>
          </a:p>
        </p:txBody>
      </p:sp>
      <p:sp>
        <p:nvSpPr>
          <p:cNvPr id="91" name="Shape 2"/>
          <p:cNvSpPr/>
          <p:nvPr/>
        </p:nvSpPr>
        <p:spPr>
          <a:xfrm>
            <a:off x="414336" y="358623"/>
            <a:ext cx="85725" cy="246639"/>
          </a:xfrm>
          <a:prstGeom prst="rect">
            <a:avLst/>
          </a:prstGeom>
          <a:solidFill>
            <a:srgbClr val="DC2626"/>
          </a:solidFill>
          <a:ln/>
        </p:spPr>
        <p:txBody>
          <a:bodyPr/>
          <a:lstStyle/>
          <a:p>
            <a:endParaRPr lang="en-US"/>
          </a:p>
        </p:txBody>
      </p:sp>
      <p:sp>
        <p:nvSpPr>
          <p:cNvPr id="2" name="Rectangle 1"/>
          <p:cNvSpPr/>
          <p:nvPr/>
        </p:nvSpPr>
        <p:spPr>
          <a:xfrm>
            <a:off x="712470" y="736975"/>
            <a:ext cx="4572000" cy="1947713"/>
          </a:xfrm>
          <a:prstGeom prst="rect">
            <a:avLst/>
          </a:prstGeom>
        </p:spPr>
        <p:txBody>
          <a:bodyPr>
            <a:spAutoFit/>
          </a:bodyPr>
          <a:lstStyle/>
          <a:p>
            <a:pPr>
              <a:lnSpc>
                <a:spcPct val="115000"/>
              </a:lnSpc>
              <a:spcAft>
                <a:spcPts val="800"/>
              </a:spcAft>
            </a:pPr>
            <a:r>
              <a:rPr lang="en-US" sz="1600" b="1" kern="100" dirty="0" err="1">
                <a:latin typeface="Times New Roman" panose="02020603050405020304" pitchFamily="18" charset="0"/>
                <a:ea typeface="Aptos"/>
                <a:cs typeface="Times New Roman" panose="02020603050405020304" pitchFamily="18" charset="0"/>
              </a:rPr>
              <a:t>Étapes</a:t>
            </a:r>
            <a:endParaRPr lang="en-US" sz="1600" kern="100" dirty="0">
              <a:latin typeface="Times New Roman" panose="02020603050405020304" pitchFamily="18" charset="0"/>
              <a:ea typeface="Aptos"/>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600" kern="100" dirty="0">
                <a:latin typeface="Times New Roman" panose="02020603050405020304" pitchFamily="18" charset="0"/>
                <a:ea typeface="Aptos"/>
                <a:cs typeface="Times New Roman" panose="02020603050405020304" pitchFamily="18" charset="0"/>
              </a:rPr>
              <a:t>lire la </a:t>
            </a:r>
            <a:r>
              <a:rPr lang="en-US" sz="1600" kern="100" dirty="0" err="1">
                <a:latin typeface="Times New Roman" panose="02020603050405020304" pitchFamily="18" charset="0"/>
                <a:ea typeface="Aptos"/>
                <a:cs typeface="Times New Roman" panose="02020603050405020304" pitchFamily="18" charset="0"/>
              </a:rPr>
              <a:t>demande</a:t>
            </a:r>
            <a:r>
              <a:rPr lang="en-US" sz="1600" kern="100" dirty="0">
                <a:latin typeface="Times New Roman" panose="02020603050405020304" pitchFamily="18" charset="0"/>
                <a:ea typeface="Aptos"/>
                <a:cs typeface="Times New Roman" panose="02020603050405020304" pitchFamily="18" charset="0"/>
              </a:rPr>
              <a:t> de </a:t>
            </a:r>
            <a:r>
              <a:rPr lang="en-US" sz="1600" kern="100" dirty="0" err="1">
                <a:latin typeface="Times New Roman" panose="02020603050405020304" pitchFamily="18" charset="0"/>
                <a:ea typeface="Aptos"/>
                <a:cs typeface="Times New Roman" panose="02020603050405020304" pitchFamily="18" charset="0"/>
              </a:rPr>
              <a:t>freinage</a:t>
            </a:r>
            <a:endParaRPr lang="en-US" sz="1600" kern="100" dirty="0">
              <a:latin typeface="Times New Roman" panose="02020603050405020304" pitchFamily="18" charset="0"/>
              <a:ea typeface="Aptos"/>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600" kern="100" dirty="0" err="1">
                <a:latin typeface="Times New Roman" panose="02020603050405020304" pitchFamily="18" charset="0"/>
                <a:ea typeface="Aptos"/>
                <a:cs typeface="Times New Roman" panose="02020603050405020304" pitchFamily="18" charset="0"/>
              </a:rPr>
              <a:t>calculer</a:t>
            </a:r>
            <a:r>
              <a:rPr lang="en-US" sz="1600" kern="100" dirty="0">
                <a:latin typeface="Times New Roman" panose="02020603050405020304" pitchFamily="18" charset="0"/>
                <a:ea typeface="Aptos"/>
                <a:cs typeface="Times New Roman" panose="02020603050405020304" pitchFamily="18" charset="0"/>
              </a:rPr>
              <a:t> le couple </a:t>
            </a:r>
            <a:r>
              <a:rPr lang="en-US" sz="1600" kern="100" dirty="0" err="1">
                <a:latin typeface="Times New Roman" panose="02020603050405020304" pitchFamily="18" charset="0"/>
                <a:ea typeface="Aptos"/>
                <a:cs typeface="Times New Roman" panose="02020603050405020304" pitchFamily="18" charset="0"/>
              </a:rPr>
              <a:t>demandé</a:t>
            </a:r>
            <a:endParaRPr lang="en-US" sz="1600" kern="100" dirty="0">
              <a:latin typeface="Times New Roman" panose="02020603050405020304" pitchFamily="18" charset="0"/>
              <a:ea typeface="Aptos"/>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600" kern="100" dirty="0" err="1">
                <a:latin typeface="Times New Roman" panose="02020603050405020304" pitchFamily="18" charset="0"/>
                <a:ea typeface="Aptos"/>
                <a:cs typeface="Times New Roman" panose="02020603050405020304" pitchFamily="18" charset="0"/>
              </a:rPr>
              <a:t>vérifier</a:t>
            </a:r>
            <a:r>
              <a:rPr lang="en-US" sz="1600" kern="100" dirty="0">
                <a:latin typeface="Times New Roman" panose="02020603050405020304" pitchFamily="18" charset="0"/>
                <a:ea typeface="Aptos"/>
                <a:cs typeface="Times New Roman" panose="02020603050405020304" pitchFamily="18" charset="0"/>
              </a:rPr>
              <a:t> les </a:t>
            </a:r>
            <a:r>
              <a:rPr lang="en-US" sz="1600" kern="100" dirty="0" err="1">
                <a:latin typeface="Times New Roman" panose="02020603050405020304" pitchFamily="18" charset="0"/>
                <a:ea typeface="Aptos"/>
                <a:cs typeface="Times New Roman" panose="02020603050405020304" pitchFamily="18" charset="0"/>
              </a:rPr>
              <a:t>contraintes</a:t>
            </a:r>
            <a:endParaRPr lang="en-US" sz="1600" kern="100" dirty="0">
              <a:latin typeface="Times New Roman" panose="02020603050405020304" pitchFamily="18" charset="0"/>
              <a:ea typeface="Aptos"/>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4039F1D-2345-A93D-6DE5-6E37A40A2B75}"/>
              </a:ext>
            </a:extLst>
          </p:cNvPr>
          <p:cNvSpPr/>
          <p:nvPr/>
        </p:nvSpPr>
        <p:spPr>
          <a:xfrm>
            <a:off x="4404006" y="1119134"/>
            <a:ext cx="4572000" cy="724301"/>
          </a:xfrm>
          <a:prstGeom prst="rect">
            <a:avLst/>
          </a:prstGeom>
        </p:spPr>
        <p:txBody>
          <a:bodyPr>
            <a:spAutoFit/>
          </a:bodyPr>
          <a:lstStyle/>
          <a:p>
            <a:pPr marL="342900" lvl="0" indent="-342900">
              <a:lnSpc>
                <a:spcPct val="115000"/>
              </a:lnSpc>
              <a:spcAft>
                <a:spcPts val="800"/>
              </a:spcAft>
              <a:buFont typeface="+mj-lt"/>
              <a:buAutoNum type="arabicPeriod" startAt="4"/>
              <a:tabLst>
                <a:tab pos="457200" algn="l"/>
              </a:tabLst>
            </a:pPr>
            <a:r>
              <a:rPr lang="en-US" sz="1600" kern="100" dirty="0">
                <a:latin typeface="Times New Roman" panose="02020603050405020304" pitchFamily="18" charset="0"/>
                <a:ea typeface="Aptos"/>
                <a:cs typeface="Times New Roman" panose="02020603050405020304" pitchFamily="18" charset="0"/>
              </a:rPr>
              <a:t>appliquer le couple </a:t>
            </a:r>
            <a:r>
              <a:rPr lang="en-US" sz="1600" kern="100" dirty="0" err="1">
                <a:latin typeface="Times New Roman" panose="02020603050405020304" pitchFamily="18" charset="0"/>
                <a:ea typeface="Aptos"/>
                <a:cs typeface="Times New Roman" panose="02020603050405020304" pitchFamily="18" charset="0"/>
              </a:rPr>
              <a:t>régénératif</a:t>
            </a:r>
            <a:endParaRPr lang="en-US" sz="1600" kern="100" dirty="0">
              <a:latin typeface="Times New Roman" panose="02020603050405020304" pitchFamily="18" charset="0"/>
              <a:ea typeface="Aptos"/>
              <a:cs typeface="Times New Roman" panose="02020603050405020304" pitchFamily="18" charset="0"/>
            </a:endParaRPr>
          </a:p>
          <a:p>
            <a:r>
              <a:rPr lang="en-US" sz="1600" dirty="0" err="1">
                <a:latin typeface="Times New Roman" panose="02020603050405020304" pitchFamily="18" charset="0"/>
                <a:ea typeface="Aptos"/>
                <a:cs typeface="Times New Roman" panose="02020603050405020304" pitchFamily="18" charset="0"/>
              </a:rPr>
              <a:t>compléter</a:t>
            </a:r>
            <a:r>
              <a:rPr lang="en-US" sz="1600" dirty="0">
                <a:latin typeface="Times New Roman" panose="02020603050405020304" pitchFamily="18" charset="0"/>
                <a:ea typeface="Aptos"/>
                <a:cs typeface="Times New Roman" panose="02020603050405020304" pitchFamily="18" charset="0"/>
              </a:rPr>
              <a:t> par le </a:t>
            </a:r>
            <a:r>
              <a:rPr lang="en-US" sz="1600" dirty="0" err="1">
                <a:latin typeface="Times New Roman" panose="02020603050405020304" pitchFamily="18" charset="0"/>
                <a:ea typeface="Aptos"/>
                <a:cs typeface="Times New Roman" panose="02020603050405020304" pitchFamily="18" charset="0"/>
              </a:rPr>
              <a:t>freinage</a:t>
            </a:r>
            <a:r>
              <a:rPr lang="en-US" sz="1600" dirty="0">
                <a:latin typeface="Times New Roman" panose="02020603050405020304" pitchFamily="18" charset="0"/>
                <a:ea typeface="Aptos"/>
                <a:cs typeface="Times New Roman" panose="02020603050405020304" pitchFamily="18" charset="0"/>
              </a:rPr>
              <a:t> </a:t>
            </a:r>
            <a:r>
              <a:rPr lang="en-US" sz="1600" dirty="0" err="1">
                <a:latin typeface="Times New Roman" panose="02020603050405020304" pitchFamily="18" charset="0"/>
                <a:ea typeface="Aptos"/>
                <a:cs typeface="Times New Roman" panose="02020603050405020304" pitchFamily="18" charset="0"/>
              </a:rPr>
              <a:t>mécanique</a:t>
            </a: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3A6F85-0DCA-CA98-241A-DCD4FAA5B674}"/>
              </a:ext>
            </a:extLst>
          </p:cNvPr>
          <p:cNvPicPr>
            <a:picLocks noChangeAspect="1"/>
          </p:cNvPicPr>
          <p:nvPr/>
        </p:nvPicPr>
        <p:blipFill>
          <a:blip r:embed="rId3"/>
          <a:srcRect l="1837" t="20000" b="6973"/>
          <a:stretch>
            <a:fillRect/>
          </a:stretch>
        </p:blipFill>
        <p:spPr>
          <a:xfrm>
            <a:off x="1226820" y="2259959"/>
            <a:ext cx="6690360" cy="2799706"/>
          </a:xfrm>
          <a:prstGeom prst="rect">
            <a:avLst/>
          </a:prstGeom>
        </p:spPr>
      </p:pic>
    </p:spTree>
    <p:extLst>
      <p:ext uri="{BB962C8B-B14F-4D97-AF65-F5344CB8AC3E}">
        <p14:creationId xmlns:p14="http://schemas.microsoft.com/office/powerpoint/2010/main" val="1839740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 0"/>
          <p:cNvSpPr/>
          <p:nvPr/>
        </p:nvSpPr>
        <p:spPr>
          <a:xfrm>
            <a:off x="571500" y="481943"/>
            <a:ext cx="3040897" cy="369332"/>
          </a:xfrm>
          <a:prstGeom prst="rect">
            <a:avLst/>
          </a:prstGeom>
          <a:noFill/>
          <a:ln/>
        </p:spPr>
        <p:txBody>
          <a:bodyPr wrap="none" lIns="0" tIns="0" rIns="0" bIns="0" rtlCol="0" anchor="t">
            <a:spAutoFit/>
          </a:bodyPr>
          <a:lstStyle/>
          <a:p>
            <a:r>
              <a:rPr lang="en-US" sz="2400" b="1" dirty="0" err="1">
                <a:latin typeface="Times New Roman" panose="02020603050405020304" pitchFamily="18" charset="0"/>
                <a:cs typeface="Times New Roman" panose="02020603050405020304" pitchFamily="18" charset="0"/>
              </a:rPr>
              <a:t>Gestion</a:t>
            </a:r>
            <a:r>
              <a:rPr lang="en-US" sz="2400" b="1" dirty="0">
                <a:latin typeface="Times New Roman" panose="02020603050405020304" pitchFamily="18" charset="0"/>
                <a:cs typeface="Times New Roman" panose="02020603050405020304" pitchFamily="18" charset="0"/>
              </a:rPr>
              <a:t> des </a:t>
            </a:r>
            <a:r>
              <a:rPr lang="en-US" sz="2400" b="1" dirty="0" err="1">
                <a:latin typeface="Times New Roman" panose="02020603050405020304" pitchFamily="18" charset="0"/>
                <a:cs typeface="Times New Roman" panose="02020603050405020304" pitchFamily="18" charset="0"/>
              </a:rPr>
              <a:t>contraintes</a:t>
            </a:r>
            <a:endParaRPr lang="en-US" sz="2400" dirty="0">
              <a:latin typeface="Times New Roman" panose="02020603050405020304" pitchFamily="18" charset="0"/>
              <a:cs typeface="Times New Roman" panose="02020603050405020304" pitchFamily="18" charset="0"/>
            </a:endParaRPr>
          </a:p>
        </p:txBody>
      </p:sp>
      <p:sp>
        <p:nvSpPr>
          <p:cNvPr id="91" name="Shape 2"/>
          <p:cNvSpPr/>
          <p:nvPr/>
        </p:nvSpPr>
        <p:spPr>
          <a:xfrm>
            <a:off x="414336" y="543289"/>
            <a:ext cx="85725" cy="246639"/>
          </a:xfrm>
          <a:prstGeom prst="rect">
            <a:avLst/>
          </a:prstGeom>
          <a:solidFill>
            <a:srgbClr val="DC2626"/>
          </a:solidFill>
          <a:ln/>
        </p:spPr>
        <p:txBody>
          <a:bodyPr/>
          <a:lstStyle/>
          <a:p>
            <a:endParaRPr lang="en-US"/>
          </a:p>
        </p:txBody>
      </p:sp>
      <p:pic>
        <p:nvPicPr>
          <p:cNvPr id="7" name="Image 6"/>
          <p:cNvPicPr>
            <a:picLocks noChangeAspect="1"/>
          </p:cNvPicPr>
          <p:nvPr/>
        </p:nvPicPr>
        <p:blipFill>
          <a:blip r:embed="rId3"/>
          <a:srcRect b="72698"/>
          <a:stretch>
            <a:fillRect/>
          </a:stretch>
        </p:blipFill>
        <p:spPr>
          <a:xfrm>
            <a:off x="750828" y="2161324"/>
            <a:ext cx="1876425" cy="369333"/>
          </a:xfrm>
          <a:prstGeom prst="rect">
            <a:avLst/>
          </a:prstGeom>
        </p:spPr>
      </p:pic>
      <p:sp>
        <p:nvSpPr>
          <p:cNvPr id="4" name="Rectangle 3"/>
          <p:cNvSpPr/>
          <p:nvPr/>
        </p:nvSpPr>
        <p:spPr>
          <a:xfrm>
            <a:off x="571500" y="1746230"/>
            <a:ext cx="2178802" cy="369332"/>
          </a:xfrm>
          <a:prstGeom prst="rect">
            <a:avLst/>
          </a:prstGeom>
        </p:spPr>
        <p:txBody>
          <a:bodyPr wrap="none">
            <a:spAutoFit/>
          </a:bodyPr>
          <a:lstStyle/>
          <a:p>
            <a:r>
              <a:rPr lang="en-US" b="1" dirty="0" err="1">
                <a:latin typeface="Times New Roman" panose="02020603050405020304" pitchFamily="18" charset="0"/>
                <a:ea typeface="Aptos"/>
                <a:cs typeface="Times New Roman" panose="02020603050405020304" pitchFamily="18" charset="0"/>
              </a:rPr>
              <a:t>Contraintes</a:t>
            </a:r>
            <a:r>
              <a:rPr lang="en-US" b="1" dirty="0">
                <a:latin typeface="Times New Roman" panose="02020603050405020304" pitchFamily="18" charset="0"/>
                <a:ea typeface="Aptos"/>
                <a:cs typeface="Times New Roman" panose="02020603050405020304" pitchFamily="18" charset="0"/>
              </a:rPr>
              <a:t> </a:t>
            </a:r>
            <a:r>
              <a:rPr lang="en-US" b="1" dirty="0" err="1">
                <a:latin typeface="Times New Roman" panose="02020603050405020304" pitchFamily="18" charset="0"/>
                <a:ea typeface="Aptos"/>
                <a:cs typeface="Times New Roman" panose="02020603050405020304" pitchFamily="18" charset="0"/>
              </a:rPr>
              <a:t>batterie</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571499" y="3416049"/>
            <a:ext cx="3702372" cy="1134862"/>
          </a:xfrm>
          <a:prstGeom prst="rect">
            <a:avLst/>
          </a:prstGeom>
        </p:spPr>
        <p:txBody>
          <a:bodyPr wrap="square">
            <a:spAutoFit/>
          </a:bodyPr>
          <a:lstStyle/>
          <a:p>
            <a:pPr>
              <a:lnSpc>
                <a:spcPct val="115000"/>
              </a:lnSpc>
              <a:spcAft>
                <a:spcPts val="800"/>
              </a:spcAft>
            </a:pPr>
            <a:r>
              <a:rPr lang="en-US" b="1" kern="100" dirty="0" err="1">
                <a:latin typeface="Times New Roman" panose="02020603050405020304" pitchFamily="18" charset="0"/>
                <a:ea typeface="Aptos"/>
                <a:cs typeface="Times New Roman" panose="02020603050405020304" pitchFamily="18" charset="0"/>
              </a:rPr>
              <a:t>Contraintes</a:t>
            </a:r>
            <a:r>
              <a:rPr lang="en-US" b="1" kern="100" dirty="0">
                <a:latin typeface="Times New Roman" panose="02020603050405020304" pitchFamily="18" charset="0"/>
                <a:ea typeface="Aptos"/>
                <a:cs typeface="Times New Roman" panose="02020603050405020304" pitchFamily="18" charset="0"/>
              </a:rPr>
              <a:t> </a:t>
            </a:r>
            <a:r>
              <a:rPr lang="en-US" b="1" kern="100" dirty="0" err="1">
                <a:latin typeface="Times New Roman" panose="02020603050405020304" pitchFamily="18" charset="0"/>
                <a:ea typeface="Aptos"/>
                <a:cs typeface="Times New Roman" panose="02020603050405020304" pitchFamily="18" charset="0"/>
              </a:rPr>
              <a:t>moteur</a:t>
            </a:r>
            <a:endParaRPr lang="en-US" kern="100" dirty="0">
              <a:latin typeface="Times New Roman" panose="02020603050405020304" pitchFamily="18" charset="0"/>
              <a:ea typeface="Aptos"/>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dirty="0" err="1">
                <a:latin typeface="Aptos"/>
                <a:cs typeface="Arial" panose="020B0604020202020204" pitchFamily="34" charset="0"/>
              </a:rPr>
              <a:t>vitesse</a:t>
            </a:r>
            <a:r>
              <a:rPr lang="en-US" dirty="0">
                <a:latin typeface="Aptos"/>
                <a:cs typeface="Arial" panose="020B0604020202020204" pitchFamily="34" charset="0"/>
              </a:rPr>
              <a:t> </a:t>
            </a:r>
            <a:r>
              <a:rPr lang="en-US" dirty="0" err="1">
                <a:latin typeface="Aptos"/>
                <a:cs typeface="Arial" panose="020B0604020202020204" pitchFamily="34" charset="0"/>
              </a:rPr>
              <a:t>minimale</a:t>
            </a:r>
            <a:r>
              <a:rPr lang="en-US" dirty="0">
                <a:latin typeface="Aptos"/>
                <a:cs typeface="Arial" panose="020B0604020202020204" pitchFamily="34" charset="0"/>
              </a:rPr>
              <a:t> de </a:t>
            </a:r>
            <a:r>
              <a:rPr lang="en-US" dirty="0" err="1">
                <a:latin typeface="Aptos"/>
                <a:cs typeface="Arial" panose="020B0604020202020204" pitchFamily="34" charset="0"/>
              </a:rPr>
              <a:t>régénération</a:t>
            </a:r>
            <a:endParaRPr lang="en-US" dirty="0">
              <a:latin typeface="Aptos"/>
              <a:cs typeface="Arial" panose="020B0604020202020204" pitchFamily="34" charset="0"/>
            </a:endParaRPr>
          </a:p>
        </p:txBody>
      </p:sp>
      <p:sp>
        <p:nvSpPr>
          <p:cNvPr id="6" name="Rectangle 5"/>
          <p:cNvSpPr/>
          <p:nvPr/>
        </p:nvSpPr>
        <p:spPr>
          <a:xfrm>
            <a:off x="5311139" y="1750868"/>
            <a:ext cx="3533775" cy="385362"/>
          </a:xfrm>
          <a:prstGeom prst="rect">
            <a:avLst/>
          </a:prstGeom>
        </p:spPr>
        <p:txBody>
          <a:bodyPr wrap="square">
            <a:spAutoFit/>
          </a:bodyPr>
          <a:lstStyle/>
          <a:p>
            <a:pPr>
              <a:lnSpc>
                <a:spcPct val="115000"/>
              </a:lnSpc>
              <a:spcAft>
                <a:spcPts val="800"/>
              </a:spcAft>
            </a:pPr>
            <a:r>
              <a:rPr lang="en-US" b="1" kern="100" dirty="0" err="1">
                <a:latin typeface="Times New Roman" panose="02020603050405020304" pitchFamily="18" charset="0"/>
                <a:ea typeface="Aptos"/>
                <a:cs typeface="Times New Roman" panose="02020603050405020304" pitchFamily="18" charset="0"/>
              </a:rPr>
              <a:t>Contraintes</a:t>
            </a:r>
            <a:r>
              <a:rPr lang="en-US" b="1" kern="100" dirty="0">
                <a:latin typeface="Times New Roman" panose="02020603050405020304" pitchFamily="18" charset="0"/>
                <a:ea typeface="Aptos"/>
                <a:cs typeface="Times New Roman" panose="02020603050405020304" pitchFamily="18" charset="0"/>
              </a:rPr>
              <a:t> sécurité</a:t>
            </a:r>
            <a:endParaRPr lang="en-US" kern="100" dirty="0">
              <a:latin typeface="Times New Roman" panose="02020603050405020304" pitchFamily="18" charset="0"/>
              <a:ea typeface="Aptos"/>
              <a:cs typeface="Times New Roman" panose="02020603050405020304" pitchFamily="18" charset="0"/>
            </a:endParaRPr>
          </a:p>
        </p:txBody>
      </p:sp>
      <p:sp>
        <p:nvSpPr>
          <p:cNvPr id="8" name="Rectangle 7"/>
          <p:cNvSpPr/>
          <p:nvPr/>
        </p:nvSpPr>
        <p:spPr>
          <a:xfrm>
            <a:off x="500061" y="1043631"/>
            <a:ext cx="8443914" cy="369332"/>
          </a:xfrm>
          <a:prstGeom prst="rect">
            <a:avLst/>
          </a:prstGeom>
        </p:spPr>
        <p:txBody>
          <a:bodyPr wrap="square">
            <a:spAutoFit/>
          </a:bodyPr>
          <a:lstStyle/>
          <a:p>
            <a:r>
              <a:rPr lang="en-US" dirty="0">
                <a:latin typeface="Aptos"/>
                <a:ea typeface="Aptos"/>
                <a:cs typeface="Arial" panose="020B0604020202020204" pitchFamily="34" charset="0"/>
              </a:rPr>
              <a:t>La </a:t>
            </a:r>
            <a:r>
              <a:rPr lang="en-US" dirty="0" err="1">
                <a:latin typeface="Aptos"/>
                <a:ea typeface="Aptos"/>
                <a:cs typeface="Arial" panose="020B0604020202020204" pitchFamily="34" charset="0"/>
              </a:rPr>
              <a:t>stratégie</a:t>
            </a:r>
            <a:r>
              <a:rPr lang="en-US" dirty="0">
                <a:latin typeface="Aptos"/>
                <a:ea typeface="Aptos"/>
                <a:cs typeface="Arial" panose="020B0604020202020204" pitchFamily="34" charset="0"/>
              </a:rPr>
              <a:t> de </a:t>
            </a:r>
            <a:r>
              <a:rPr lang="en-US" dirty="0" err="1">
                <a:latin typeface="Aptos"/>
                <a:ea typeface="Aptos"/>
                <a:cs typeface="Arial" panose="020B0604020202020204" pitchFamily="34" charset="0"/>
              </a:rPr>
              <a:t>commande</a:t>
            </a:r>
            <a:r>
              <a:rPr lang="en-US" dirty="0">
                <a:latin typeface="Aptos"/>
                <a:ea typeface="Aptos"/>
                <a:cs typeface="Arial" panose="020B0604020202020204" pitchFamily="34" charset="0"/>
              </a:rPr>
              <a:t> ne </a:t>
            </a:r>
            <a:r>
              <a:rPr lang="en-US" dirty="0" err="1">
                <a:latin typeface="Aptos"/>
                <a:ea typeface="Aptos"/>
                <a:cs typeface="Arial" panose="020B0604020202020204" pitchFamily="34" charset="0"/>
              </a:rPr>
              <a:t>peut</a:t>
            </a:r>
            <a:r>
              <a:rPr lang="en-US" dirty="0">
                <a:latin typeface="Aptos"/>
                <a:ea typeface="Aptos"/>
                <a:cs typeface="Arial" panose="020B0604020202020204" pitchFamily="34" charset="0"/>
              </a:rPr>
              <a:t> pas </a:t>
            </a:r>
            <a:r>
              <a:rPr lang="en-US" dirty="0" err="1">
                <a:latin typeface="Aptos"/>
                <a:ea typeface="Aptos"/>
                <a:cs typeface="Arial" panose="020B0604020202020204" pitchFamily="34" charset="0"/>
              </a:rPr>
              <a:t>être</a:t>
            </a:r>
            <a:r>
              <a:rPr lang="en-US" dirty="0">
                <a:latin typeface="Aptos"/>
                <a:ea typeface="Aptos"/>
                <a:cs typeface="Arial" panose="020B0604020202020204" pitchFamily="34" charset="0"/>
              </a:rPr>
              <a:t> </a:t>
            </a:r>
            <a:r>
              <a:rPr lang="en-US" dirty="0" err="1">
                <a:latin typeface="Aptos"/>
                <a:ea typeface="Aptos"/>
                <a:cs typeface="Arial" panose="020B0604020202020204" pitchFamily="34" charset="0"/>
              </a:rPr>
              <a:t>définie</a:t>
            </a:r>
            <a:r>
              <a:rPr lang="en-US" dirty="0">
                <a:latin typeface="Aptos"/>
                <a:ea typeface="Aptos"/>
                <a:cs typeface="Arial" panose="020B0604020202020204" pitchFamily="34" charset="0"/>
              </a:rPr>
              <a:t> sans </a:t>
            </a:r>
            <a:r>
              <a:rPr lang="en-US" dirty="0" err="1">
                <a:latin typeface="Aptos"/>
                <a:ea typeface="Aptos"/>
                <a:cs typeface="Arial" panose="020B0604020202020204" pitchFamily="34" charset="0"/>
              </a:rPr>
              <a:t>gestion</a:t>
            </a:r>
            <a:r>
              <a:rPr lang="en-US" dirty="0">
                <a:latin typeface="Aptos"/>
                <a:ea typeface="Aptos"/>
                <a:cs typeface="Arial" panose="020B0604020202020204" pitchFamily="34" charset="0"/>
              </a:rPr>
              <a:t> des </a:t>
            </a:r>
            <a:r>
              <a:rPr lang="en-US" dirty="0" err="1">
                <a:latin typeface="Aptos"/>
                <a:ea typeface="Aptos"/>
                <a:cs typeface="Arial" panose="020B0604020202020204" pitchFamily="34" charset="0"/>
              </a:rPr>
              <a:t>contraintes</a:t>
            </a:r>
            <a:r>
              <a:rPr lang="en-US" dirty="0">
                <a:latin typeface="Aptos"/>
                <a:ea typeface="Aptos"/>
                <a:cs typeface="Arial" panose="020B0604020202020204" pitchFamily="34" charset="0"/>
              </a:rPr>
              <a:t>.</a:t>
            </a:r>
            <a:endParaRPr lang="en-US" dirty="0"/>
          </a:p>
        </p:txBody>
      </p:sp>
      <p:sp>
        <p:nvSpPr>
          <p:cNvPr id="3" name="Rectangle 2">
            <a:extLst>
              <a:ext uri="{FF2B5EF4-FFF2-40B4-BE49-F238E27FC236}">
                <a16:creationId xmlns:a16="http://schemas.microsoft.com/office/drawing/2014/main" id="{C28170C7-8560-7C1A-4C0B-C00640B28139}"/>
              </a:ext>
            </a:extLst>
          </p:cNvPr>
          <p:cNvSpPr/>
          <p:nvPr/>
        </p:nvSpPr>
        <p:spPr>
          <a:xfrm>
            <a:off x="500062" y="2494592"/>
            <a:ext cx="3702372" cy="646331"/>
          </a:xfrm>
          <a:prstGeom prst="rect">
            <a:avLst/>
          </a:prstGeom>
        </p:spPr>
        <p:txBody>
          <a:bodyPr wrap="square">
            <a:spAutoFit/>
          </a:bodyPr>
          <a:lstStyle/>
          <a:p>
            <a:pPr marL="285750" indent="-285750" algn="just">
              <a:buFont typeface="Arial" panose="020B0604020202020204" pitchFamily="34" charset="0"/>
              <a:buChar char="•"/>
            </a:pPr>
            <a:r>
              <a:rPr lang="fr-FR" dirty="0">
                <a:latin typeface="Aptos"/>
                <a:ea typeface="Aptos"/>
                <a:cs typeface="Arial" panose="020B0604020202020204" pitchFamily="34" charset="0"/>
              </a:rPr>
              <a:t> l'état de charge ne doit pas dépasser un seuil maximal </a:t>
            </a:r>
            <a:endParaRPr lang="en-US" dirty="0"/>
          </a:p>
        </p:txBody>
      </p:sp>
      <p:sp>
        <p:nvSpPr>
          <p:cNvPr id="16" name="Rectangle 15">
            <a:extLst>
              <a:ext uri="{FF2B5EF4-FFF2-40B4-BE49-F238E27FC236}">
                <a16:creationId xmlns:a16="http://schemas.microsoft.com/office/drawing/2014/main" id="{A0C013C2-FCB1-08AA-DF45-0684CC88D2DA}"/>
              </a:ext>
            </a:extLst>
          </p:cNvPr>
          <p:cNvSpPr/>
          <p:nvPr/>
        </p:nvSpPr>
        <p:spPr>
          <a:xfrm>
            <a:off x="4771069" y="2218009"/>
            <a:ext cx="4073845" cy="1200329"/>
          </a:xfrm>
          <a:prstGeom prst="rect">
            <a:avLst/>
          </a:prstGeom>
        </p:spPr>
        <p:txBody>
          <a:bodyPr wrap="square">
            <a:spAutoFit/>
          </a:bodyPr>
          <a:lstStyle/>
          <a:p>
            <a:pPr marL="285750" indent="-285750" algn="just">
              <a:buFont typeface="Arial" panose="020B0604020202020204" pitchFamily="34" charset="0"/>
              <a:buChar char="•"/>
            </a:pPr>
            <a:r>
              <a:rPr lang="fr-FR" dirty="0">
                <a:latin typeface="Aptos"/>
                <a:ea typeface="Aptos"/>
                <a:cs typeface="Arial" panose="020B0604020202020204" pitchFamily="34" charset="0"/>
              </a:rPr>
              <a:t>la stabilité du véhicule </a:t>
            </a:r>
          </a:p>
          <a:p>
            <a:pPr marL="285750" indent="-285750" algn="just">
              <a:buFont typeface="Arial" panose="020B0604020202020204" pitchFamily="34" charset="0"/>
              <a:buChar char="•"/>
            </a:pPr>
            <a:r>
              <a:rPr lang="fr-FR" dirty="0">
                <a:latin typeface="Aptos"/>
                <a:ea typeface="Aptos"/>
                <a:cs typeface="Arial" panose="020B0604020202020204" pitchFamily="34" charset="0"/>
              </a:rPr>
              <a:t>la capacité de freinage d'urgence imposent que le freinage mécanique reste toujours disponible.</a:t>
            </a:r>
          </a:p>
        </p:txBody>
      </p:sp>
    </p:spTree>
    <p:extLst>
      <p:ext uri="{BB962C8B-B14F-4D97-AF65-F5344CB8AC3E}">
        <p14:creationId xmlns:p14="http://schemas.microsoft.com/office/powerpoint/2010/main" val="1962362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CC71-6C73-AF3A-6BDE-FB7937F3C2E6}"/>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FAC346CB-2164-3851-B358-EEE6CED9234A}"/>
              </a:ext>
            </a:extLst>
          </p:cNvPr>
          <p:cNvSpPr/>
          <p:nvPr/>
        </p:nvSpPr>
        <p:spPr>
          <a:xfrm>
            <a:off x="571500" y="352403"/>
            <a:ext cx="7771358"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Du modèle de principe vers les composants physiques réels </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55C4C1A0-2E26-7880-7588-B8B04A43FE54}"/>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0B21A42D-FBBF-3DC5-AE27-A0619CF79F7D}"/>
              </a:ext>
            </a:extLst>
          </p:cNvPr>
          <p:cNvSpPr/>
          <p:nvPr/>
        </p:nvSpPr>
        <p:spPr>
          <a:xfrm>
            <a:off x="457198" y="735229"/>
            <a:ext cx="4414670"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Architecture du modèle à composants réels</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9EA21B3-83D4-01A8-7AA0-109A98009F44}"/>
              </a:ext>
            </a:extLst>
          </p:cNvPr>
          <p:cNvPicPr>
            <a:picLocks noChangeAspect="1"/>
          </p:cNvPicPr>
          <p:nvPr/>
        </p:nvPicPr>
        <p:blipFill>
          <a:blip r:embed="rId3"/>
          <a:srcRect l="1855" t="19742" r="84" b="6527"/>
          <a:stretch>
            <a:fillRect/>
          </a:stretch>
        </p:blipFill>
        <p:spPr>
          <a:xfrm>
            <a:off x="0" y="1179402"/>
            <a:ext cx="9144000" cy="3964098"/>
          </a:xfrm>
          <a:prstGeom prst="rect">
            <a:avLst/>
          </a:prstGeom>
        </p:spPr>
      </p:pic>
    </p:spTree>
    <p:extLst>
      <p:ext uri="{BB962C8B-B14F-4D97-AF65-F5344CB8AC3E}">
        <p14:creationId xmlns:p14="http://schemas.microsoft.com/office/powerpoint/2010/main" val="850083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4E427-FC54-2FA1-0E45-FC8F87F23237}"/>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B1B0703C-B7BD-EE80-FC35-5CCB72804D89}"/>
              </a:ext>
            </a:extLst>
          </p:cNvPr>
          <p:cNvSpPr/>
          <p:nvPr/>
        </p:nvSpPr>
        <p:spPr>
          <a:xfrm>
            <a:off x="571500" y="352403"/>
            <a:ext cx="7771358"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Du modèle de principe vers les composants physiques réels </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57D5E60B-D1DF-8E94-312E-2309C17CD203}"/>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53A4E83F-5509-C8BA-053C-73A5019B3164}"/>
              </a:ext>
            </a:extLst>
          </p:cNvPr>
          <p:cNvSpPr/>
          <p:nvPr/>
        </p:nvSpPr>
        <p:spPr>
          <a:xfrm>
            <a:off x="457198" y="735229"/>
            <a:ext cx="4121641"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Sous-système de dynamique du véhicule</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7BA72B-3BC1-F285-6695-28586068F540}"/>
              </a:ext>
            </a:extLst>
          </p:cNvPr>
          <p:cNvPicPr>
            <a:picLocks noChangeAspect="1"/>
          </p:cNvPicPr>
          <p:nvPr/>
        </p:nvPicPr>
        <p:blipFill>
          <a:blip r:embed="rId3"/>
          <a:srcRect l="1666" t="19259" r="1583" b="6852"/>
          <a:stretch>
            <a:fillRect/>
          </a:stretch>
        </p:blipFill>
        <p:spPr>
          <a:xfrm>
            <a:off x="0" y="1179402"/>
            <a:ext cx="9144000" cy="3949245"/>
          </a:xfrm>
          <a:prstGeom prst="rect">
            <a:avLst/>
          </a:prstGeom>
        </p:spPr>
      </p:pic>
    </p:spTree>
    <p:extLst>
      <p:ext uri="{BB962C8B-B14F-4D97-AF65-F5344CB8AC3E}">
        <p14:creationId xmlns:p14="http://schemas.microsoft.com/office/powerpoint/2010/main" val="783231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5B77D-8D8B-888A-597A-ABCA818EF4CB}"/>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0390DFEA-6CE7-8109-CEBD-01A8CE7762F5}"/>
              </a:ext>
            </a:extLst>
          </p:cNvPr>
          <p:cNvSpPr/>
          <p:nvPr/>
        </p:nvSpPr>
        <p:spPr>
          <a:xfrm>
            <a:off x="571500" y="352403"/>
            <a:ext cx="7771358"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Du modèle de principe vers les composants physiques réels </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F6F8C89D-703D-B247-1817-47BDDF5616DB}"/>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795229FE-B2D6-DF92-9B97-24D4016E9045}"/>
              </a:ext>
            </a:extLst>
          </p:cNvPr>
          <p:cNvSpPr/>
          <p:nvPr/>
        </p:nvSpPr>
        <p:spPr>
          <a:xfrm>
            <a:off x="457198" y="735229"/>
            <a:ext cx="3110788"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Sous-système </a:t>
            </a:r>
            <a:r>
              <a:rPr lang="fr-FR" b="1" dirty="0" err="1">
                <a:latin typeface="Times New Roman" panose="02020603050405020304" pitchFamily="18" charset="0"/>
                <a:ea typeface="Aptos"/>
                <a:cs typeface="Times New Roman" panose="02020603050405020304" pitchFamily="18" charset="0"/>
              </a:rPr>
              <a:t>couple_freinage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BA152A0-7512-46E7-A3F4-98E371A4C81B}"/>
              </a:ext>
            </a:extLst>
          </p:cNvPr>
          <p:cNvPicPr>
            <a:picLocks noChangeAspect="1"/>
          </p:cNvPicPr>
          <p:nvPr/>
        </p:nvPicPr>
        <p:blipFill>
          <a:blip r:embed="rId3"/>
          <a:srcRect l="1789" t="19463" b="6851"/>
          <a:stretch>
            <a:fillRect/>
          </a:stretch>
        </p:blipFill>
        <p:spPr>
          <a:xfrm>
            <a:off x="414336" y="1216531"/>
            <a:ext cx="8324390" cy="3513220"/>
          </a:xfrm>
          <a:prstGeom prst="rect">
            <a:avLst/>
          </a:prstGeom>
        </p:spPr>
      </p:pic>
    </p:spTree>
    <p:extLst>
      <p:ext uri="{BB962C8B-B14F-4D97-AF65-F5344CB8AC3E}">
        <p14:creationId xmlns:p14="http://schemas.microsoft.com/office/powerpoint/2010/main" val="415556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53FA2-B53C-856A-A6D2-5D13BA00BDA9}"/>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C42339EC-FB2B-E002-3DD2-C19D86E581AB}"/>
              </a:ext>
            </a:extLst>
          </p:cNvPr>
          <p:cNvSpPr/>
          <p:nvPr/>
        </p:nvSpPr>
        <p:spPr>
          <a:xfrm>
            <a:off x="571500" y="352403"/>
            <a:ext cx="7771358"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Du modèle de principe vers les composants physiques réels </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EAB5E795-4861-4ADA-E172-312DD3DD6795}"/>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37587C99-5B8F-B506-5DE4-86BF138ACF71}"/>
              </a:ext>
            </a:extLst>
          </p:cNvPr>
          <p:cNvSpPr/>
          <p:nvPr/>
        </p:nvSpPr>
        <p:spPr>
          <a:xfrm>
            <a:off x="457198" y="735229"/>
            <a:ext cx="3397084"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Résultats du modèle de principe </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DCC938D-AFA0-28C0-D75A-CE1C561C4C49}"/>
              </a:ext>
            </a:extLst>
          </p:cNvPr>
          <p:cNvPicPr>
            <a:picLocks noChangeAspect="1"/>
          </p:cNvPicPr>
          <p:nvPr/>
        </p:nvPicPr>
        <p:blipFill>
          <a:blip r:embed="rId3"/>
          <a:stretch>
            <a:fillRect/>
          </a:stretch>
        </p:blipFill>
        <p:spPr>
          <a:xfrm>
            <a:off x="362268" y="1120038"/>
            <a:ext cx="2579096" cy="1954442"/>
          </a:xfrm>
          <a:prstGeom prst="rect">
            <a:avLst/>
          </a:prstGeom>
        </p:spPr>
      </p:pic>
      <p:pic>
        <p:nvPicPr>
          <p:cNvPr id="7" name="Picture 6">
            <a:extLst>
              <a:ext uri="{FF2B5EF4-FFF2-40B4-BE49-F238E27FC236}">
                <a16:creationId xmlns:a16="http://schemas.microsoft.com/office/drawing/2014/main" id="{B95463A3-AA1C-04E8-43CD-8D4E4C2B8113}"/>
              </a:ext>
            </a:extLst>
          </p:cNvPr>
          <p:cNvPicPr>
            <a:picLocks noChangeAspect="1"/>
          </p:cNvPicPr>
          <p:nvPr/>
        </p:nvPicPr>
        <p:blipFill>
          <a:blip r:embed="rId4"/>
          <a:srcRect t="1853" b="1356"/>
          <a:stretch>
            <a:fillRect/>
          </a:stretch>
        </p:blipFill>
        <p:spPr>
          <a:xfrm>
            <a:off x="362268" y="3141134"/>
            <a:ext cx="2618981" cy="1954443"/>
          </a:xfrm>
          <a:prstGeom prst="rect">
            <a:avLst/>
          </a:prstGeom>
        </p:spPr>
      </p:pic>
      <p:pic>
        <p:nvPicPr>
          <p:cNvPr id="9" name="Picture 8">
            <a:extLst>
              <a:ext uri="{FF2B5EF4-FFF2-40B4-BE49-F238E27FC236}">
                <a16:creationId xmlns:a16="http://schemas.microsoft.com/office/drawing/2014/main" id="{04D95B3C-5C02-0436-3C1D-12D32A221A6E}"/>
              </a:ext>
            </a:extLst>
          </p:cNvPr>
          <p:cNvPicPr>
            <a:picLocks noChangeAspect="1"/>
          </p:cNvPicPr>
          <p:nvPr/>
        </p:nvPicPr>
        <p:blipFill>
          <a:blip r:embed="rId5"/>
          <a:srcRect b="9614"/>
          <a:stretch>
            <a:fillRect/>
          </a:stretch>
        </p:blipFill>
        <p:spPr>
          <a:xfrm>
            <a:off x="3344304" y="1134855"/>
            <a:ext cx="2716818" cy="1722222"/>
          </a:xfrm>
          <a:prstGeom prst="rect">
            <a:avLst/>
          </a:prstGeom>
        </p:spPr>
      </p:pic>
      <p:pic>
        <p:nvPicPr>
          <p:cNvPr id="11" name="Picture 10">
            <a:extLst>
              <a:ext uri="{FF2B5EF4-FFF2-40B4-BE49-F238E27FC236}">
                <a16:creationId xmlns:a16="http://schemas.microsoft.com/office/drawing/2014/main" id="{FD48AE64-69FD-2E9D-5C44-F74C40F4565B}"/>
              </a:ext>
            </a:extLst>
          </p:cNvPr>
          <p:cNvPicPr>
            <a:picLocks noChangeAspect="1"/>
          </p:cNvPicPr>
          <p:nvPr/>
        </p:nvPicPr>
        <p:blipFill>
          <a:blip r:embed="rId6"/>
          <a:stretch>
            <a:fillRect/>
          </a:stretch>
        </p:blipFill>
        <p:spPr>
          <a:xfrm>
            <a:off x="6464062" y="1146896"/>
            <a:ext cx="2308817" cy="1722222"/>
          </a:xfrm>
          <a:prstGeom prst="rect">
            <a:avLst/>
          </a:prstGeom>
        </p:spPr>
      </p:pic>
      <p:sp>
        <p:nvSpPr>
          <p:cNvPr id="13" name="Rectangle 12">
            <a:extLst>
              <a:ext uri="{FF2B5EF4-FFF2-40B4-BE49-F238E27FC236}">
                <a16:creationId xmlns:a16="http://schemas.microsoft.com/office/drawing/2014/main" id="{0CC672F4-A31A-EB97-C310-1CA6E1C28623}"/>
              </a:ext>
            </a:extLst>
          </p:cNvPr>
          <p:cNvSpPr/>
          <p:nvPr/>
        </p:nvSpPr>
        <p:spPr>
          <a:xfrm>
            <a:off x="3233463" y="2964193"/>
            <a:ext cx="5655317" cy="2308324"/>
          </a:xfrm>
          <a:prstGeom prst="rect">
            <a:avLst/>
          </a:prstGeom>
        </p:spPr>
        <p:txBody>
          <a:bodyPr wrap="square">
            <a:spAutoFit/>
          </a:bodyPr>
          <a:lstStyle/>
          <a:p>
            <a:pPr marL="285750" indent="-285750" algn="just">
              <a:buFont typeface="Arial" panose="020B0604020202020204" pitchFamily="34" charset="0"/>
              <a:buChar char="•"/>
            </a:pPr>
            <a:r>
              <a:rPr lang="fr-FR" sz="1600" b="1" dirty="0">
                <a:latin typeface="Aptos"/>
                <a:ea typeface="Aptos"/>
                <a:cs typeface="Arial" panose="020B0604020202020204" pitchFamily="34" charset="0"/>
              </a:rPr>
              <a:t>Preuve de récupération énergétique : </a:t>
            </a:r>
            <a:r>
              <a:rPr lang="fr-FR" sz="1600" dirty="0">
                <a:latin typeface="Aptos"/>
                <a:ea typeface="Aptos"/>
                <a:cs typeface="Arial" panose="020B0604020202020204" pitchFamily="34" charset="0"/>
              </a:rPr>
              <a:t>La hausse du SOC valide la conversion de l'énergie cinétique en électricité stockée.</a:t>
            </a:r>
          </a:p>
          <a:p>
            <a:pPr marL="285750" indent="-285750" algn="just">
              <a:buFont typeface="Arial" panose="020B0604020202020204" pitchFamily="34" charset="0"/>
              <a:buChar char="•"/>
            </a:pPr>
            <a:r>
              <a:rPr lang="en-US" sz="1600" b="1" dirty="0" err="1">
                <a:latin typeface="Aptos"/>
                <a:cs typeface="Arial" panose="020B0604020202020204" pitchFamily="34" charset="0"/>
              </a:rPr>
              <a:t>Continuité</a:t>
            </a:r>
            <a:r>
              <a:rPr lang="en-US" sz="1600" b="1" dirty="0">
                <a:latin typeface="Aptos"/>
                <a:cs typeface="Arial" panose="020B0604020202020204" pitchFamily="34" charset="0"/>
              </a:rPr>
              <a:t> de </a:t>
            </a:r>
            <a:r>
              <a:rPr lang="en-US" sz="1600" b="1" dirty="0" err="1">
                <a:latin typeface="Aptos"/>
                <a:cs typeface="Arial" panose="020B0604020202020204" pitchFamily="34" charset="0"/>
              </a:rPr>
              <a:t>l'effort</a:t>
            </a:r>
            <a:r>
              <a:rPr lang="en-US" sz="1600" b="1" dirty="0">
                <a:latin typeface="Aptos"/>
                <a:cs typeface="Arial" panose="020B0604020202020204" pitchFamily="34" charset="0"/>
              </a:rPr>
              <a:t> de </a:t>
            </a:r>
            <a:r>
              <a:rPr lang="en-US" sz="1600" b="1" dirty="0" err="1">
                <a:latin typeface="Aptos"/>
                <a:cs typeface="Arial" panose="020B0604020202020204" pitchFamily="34" charset="0"/>
              </a:rPr>
              <a:t>freinage</a:t>
            </a:r>
            <a:r>
              <a:rPr lang="en-US" sz="1600" b="1" dirty="0">
                <a:latin typeface="Aptos"/>
                <a:cs typeface="Arial" panose="020B0604020202020204" pitchFamily="34" charset="0"/>
              </a:rPr>
              <a:t> : </a:t>
            </a:r>
            <a:r>
              <a:rPr lang="en-US" sz="1600" dirty="0">
                <a:latin typeface="Aptos"/>
                <a:cs typeface="Arial" panose="020B0604020202020204" pitchFamily="34" charset="0"/>
              </a:rPr>
              <a:t>Relais </a:t>
            </a:r>
            <a:r>
              <a:rPr lang="en-US" sz="1600" dirty="0" err="1">
                <a:latin typeface="Aptos"/>
                <a:cs typeface="Arial" panose="020B0604020202020204" pitchFamily="34" charset="0"/>
              </a:rPr>
              <a:t>instantané</a:t>
            </a:r>
            <a:r>
              <a:rPr lang="en-US" sz="1600" dirty="0">
                <a:latin typeface="Aptos"/>
                <a:cs typeface="Arial" panose="020B0604020202020204" pitchFamily="34" charset="0"/>
              </a:rPr>
              <a:t> et </a:t>
            </a:r>
            <a:r>
              <a:rPr lang="en-US" sz="1600" dirty="0" err="1">
                <a:latin typeface="Aptos"/>
                <a:cs typeface="Arial" panose="020B0604020202020204" pitchFamily="34" charset="0"/>
              </a:rPr>
              <a:t>fluide</a:t>
            </a:r>
            <a:r>
              <a:rPr lang="en-US" sz="1600" dirty="0">
                <a:latin typeface="Aptos"/>
                <a:cs typeface="Arial" panose="020B0604020202020204" pitchFamily="34" charset="0"/>
              </a:rPr>
              <a:t> du </a:t>
            </a:r>
            <a:r>
              <a:rPr lang="en-US" sz="1600" dirty="0" err="1">
                <a:latin typeface="Aptos"/>
                <a:cs typeface="Arial" panose="020B0604020202020204" pitchFamily="34" charset="0"/>
              </a:rPr>
              <a:t>freinage</a:t>
            </a:r>
            <a:r>
              <a:rPr lang="en-US" sz="1600" dirty="0">
                <a:latin typeface="Aptos"/>
                <a:cs typeface="Arial" panose="020B0604020202020204" pitchFamily="34" charset="0"/>
              </a:rPr>
              <a:t> </a:t>
            </a:r>
            <a:r>
              <a:rPr lang="en-US" sz="1600" dirty="0" err="1">
                <a:latin typeface="Aptos"/>
                <a:cs typeface="Arial" panose="020B0604020202020204" pitchFamily="34" charset="0"/>
              </a:rPr>
              <a:t>mécanique</a:t>
            </a:r>
            <a:r>
              <a:rPr lang="en-US" sz="1600" dirty="0">
                <a:latin typeface="Aptos"/>
                <a:cs typeface="Arial" panose="020B0604020202020204" pitchFamily="34" charset="0"/>
              </a:rPr>
              <a:t> </a:t>
            </a:r>
            <a:r>
              <a:rPr lang="en-US" sz="1600" dirty="0" err="1">
                <a:latin typeface="Aptos"/>
                <a:cs typeface="Arial" panose="020B0604020202020204" pitchFamily="34" charset="0"/>
              </a:rPr>
              <a:t>dès</a:t>
            </a:r>
            <a:r>
              <a:rPr lang="en-US" sz="1600" dirty="0">
                <a:latin typeface="Aptos"/>
                <a:cs typeface="Arial" panose="020B0604020202020204" pitchFamily="34" charset="0"/>
              </a:rPr>
              <a:t> </a:t>
            </a:r>
            <a:r>
              <a:rPr lang="en-US" sz="1600" dirty="0" err="1">
                <a:latin typeface="Aptos"/>
                <a:cs typeface="Arial" panose="020B0604020202020204" pitchFamily="34" charset="0"/>
              </a:rPr>
              <a:t>l'arrêt</a:t>
            </a:r>
            <a:r>
              <a:rPr lang="en-US" sz="1600" dirty="0">
                <a:latin typeface="Aptos"/>
                <a:cs typeface="Arial" panose="020B0604020202020204" pitchFamily="34" charset="0"/>
              </a:rPr>
              <a:t> de la </a:t>
            </a:r>
            <a:r>
              <a:rPr lang="en-US" sz="1600" dirty="0" err="1">
                <a:latin typeface="Aptos"/>
                <a:cs typeface="Arial" panose="020B0604020202020204" pitchFamily="34" charset="0"/>
              </a:rPr>
              <a:t>régénération</a:t>
            </a:r>
            <a:r>
              <a:rPr lang="en-US" sz="1600" dirty="0">
                <a:latin typeface="Aptos"/>
                <a:cs typeface="Arial" panose="020B0604020202020204" pitchFamily="34" charset="0"/>
              </a:rPr>
              <a:t>, </a:t>
            </a:r>
            <a:r>
              <a:rPr lang="en-US" sz="1600" dirty="0" err="1">
                <a:latin typeface="Aptos"/>
                <a:cs typeface="Arial" panose="020B0604020202020204" pitchFamily="34" charset="0"/>
              </a:rPr>
              <a:t>assurant</a:t>
            </a:r>
            <a:r>
              <a:rPr lang="en-US" sz="1600" dirty="0">
                <a:latin typeface="Aptos"/>
                <a:cs typeface="Arial" panose="020B0604020202020204" pitchFamily="34" charset="0"/>
              </a:rPr>
              <a:t> un </a:t>
            </a:r>
            <a:r>
              <a:rPr lang="en-US" sz="1600" dirty="0" err="1">
                <a:latin typeface="Aptos"/>
                <a:cs typeface="Arial" panose="020B0604020202020204" pitchFamily="34" charset="0"/>
              </a:rPr>
              <a:t>arrêt</a:t>
            </a:r>
            <a:r>
              <a:rPr lang="en-US" sz="1600" dirty="0">
                <a:latin typeface="Aptos"/>
                <a:cs typeface="Arial" panose="020B0604020202020204" pitchFamily="34" charset="0"/>
              </a:rPr>
              <a:t> total sans à-coups.</a:t>
            </a:r>
          </a:p>
          <a:p>
            <a:pPr marL="285750" indent="-285750" algn="just">
              <a:buFont typeface="Arial" panose="020B0604020202020204" pitchFamily="34" charset="0"/>
              <a:buChar char="•"/>
            </a:pPr>
            <a:r>
              <a:rPr lang="fr-FR" sz="1600" b="1" dirty="0">
                <a:latin typeface="Aptos"/>
                <a:cs typeface="Arial" panose="020B0604020202020204" pitchFamily="34" charset="0"/>
              </a:rPr>
              <a:t>Validation de la stratégie : </a:t>
            </a:r>
            <a:r>
              <a:rPr lang="fr-FR" sz="1600" dirty="0">
                <a:latin typeface="Aptos"/>
                <a:cs typeface="Arial" panose="020B0604020202020204" pitchFamily="34" charset="0"/>
              </a:rPr>
              <a:t>Complémentarité parfaite des courbes illustrant le succès de la loi de répartition</a:t>
            </a:r>
            <a:endParaRPr lang="en-US" sz="1600" dirty="0">
              <a:latin typeface="Aptos"/>
              <a:cs typeface="Arial" panose="020B0604020202020204" pitchFamily="34" charset="0"/>
            </a:endParaRPr>
          </a:p>
          <a:p>
            <a:pPr marL="285750" indent="-285750" algn="just">
              <a:buFont typeface="Arial" panose="020B0604020202020204" pitchFamily="34" charset="0"/>
              <a:buChar char="•"/>
            </a:pPr>
            <a:endParaRPr lang="fr-FR" sz="1600" dirty="0">
              <a:latin typeface="Aptos"/>
              <a:cs typeface="Arial" panose="020B0604020202020204" pitchFamily="34" charset="0"/>
            </a:endParaRPr>
          </a:p>
        </p:txBody>
      </p:sp>
    </p:spTree>
    <p:extLst>
      <p:ext uri="{BB962C8B-B14F-4D97-AF65-F5344CB8AC3E}">
        <p14:creationId xmlns:p14="http://schemas.microsoft.com/office/powerpoint/2010/main" val="1148383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AA22-892D-3318-44C6-ACAADBBDE464}"/>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FB396491-50C1-8FFD-29FB-D9101074151E}"/>
              </a:ext>
            </a:extLst>
          </p:cNvPr>
          <p:cNvSpPr/>
          <p:nvPr/>
        </p:nvSpPr>
        <p:spPr>
          <a:xfrm>
            <a:off x="571500" y="352403"/>
            <a:ext cx="7771358"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Du modèle de principe vers les composants physiques réels </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309489DA-3152-D56B-B4E3-53361CCAB630}"/>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9C6009F6-BA1E-46E8-2146-1E397A79EB27}"/>
              </a:ext>
            </a:extLst>
          </p:cNvPr>
          <p:cNvSpPr/>
          <p:nvPr/>
        </p:nvSpPr>
        <p:spPr>
          <a:xfrm>
            <a:off x="457198" y="735229"/>
            <a:ext cx="4076757"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Résultats du modèle à composants réels</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3ABCE79-7212-29E1-8C2E-92B653E52868}"/>
              </a:ext>
            </a:extLst>
          </p:cNvPr>
          <p:cNvPicPr>
            <a:picLocks noChangeAspect="1"/>
          </p:cNvPicPr>
          <p:nvPr/>
        </p:nvPicPr>
        <p:blipFill>
          <a:blip r:embed="rId3"/>
          <a:srcRect b="6230"/>
          <a:stretch>
            <a:fillRect/>
          </a:stretch>
        </p:blipFill>
        <p:spPr>
          <a:xfrm>
            <a:off x="1881963" y="1187806"/>
            <a:ext cx="5150432" cy="2022187"/>
          </a:xfrm>
          <a:prstGeom prst="rect">
            <a:avLst/>
          </a:prstGeom>
        </p:spPr>
      </p:pic>
      <p:sp>
        <p:nvSpPr>
          <p:cNvPr id="10" name="Rectangle 9">
            <a:extLst>
              <a:ext uri="{FF2B5EF4-FFF2-40B4-BE49-F238E27FC236}">
                <a16:creationId xmlns:a16="http://schemas.microsoft.com/office/drawing/2014/main" id="{C876FBBB-3D4B-7DD6-1314-6A5A278A10A1}"/>
              </a:ext>
            </a:extLst>
          </p:cNvPr>
          <p:cNvSpPr/>
          <p:nvPr/>
        </p:nvSpPr>
        <p:spPr>
          <a:xfrm>
            <a:off x="414336" y="3289823"/>
            <a:ext cx="8327164" cy="1815882"/>
          </a:xfrm>
          <a:prstGeom prst="rect">
            <a:avLst/>
          </a:prstGeom>
        </p:spPr>
        <p:txBody>
          <a:bodyPr wrap="square">
            <a:spAutoFit/>
          </a:bodyPr>
          <a:lstStyle/>
          <a:p>
            <a:pPr marL="285750" indent="-285750" algn="just">
              <a:buFont typeface="Arial" panose="020B0604020202020204" pitchFamily="34" charset="0"/>
              <a:buChar char="•"/>
            </a:pPr>
            <a:r>
              <a:rPr lang="fr-FR" sz="1600" b="1" dirty="0">
                <a:latin typeface="Aptos"/>
                <a:ea typeface="Aptos"/>
                <a:cs typeface="Arial" panose="020B0604020202020204" pitchFamily="34" charset="0"/>
              </a:rPr>
              <a:t>Validation du réalisme : </a:t>
            </a:r>
            <a:r>
              <a:rPr lang="fr-FR" sz="1600" dirty="0">
                <a:latin typeface="Aptos"/>
                <a:ea typeface="Aptos"/>
                <a:cs typeface="Arial" panose="020B0604020202020204" pitchFamily="34" charset="0"/>
              </a:rPr>
              <a:t>La remontée nette du SOC confirme que la récupération d'énergie malgré les pertes physiques réelles du moteur et de l'onduleur.</a:t>
            </a:r>
          </a:p>
          <a:p>
            <a:pPr marL="285750" indent="-285750" algn="just">
              <a:buFont typeface="Arial" panose="020B0604020202020204" pitchFamily="34" charset="0"/>
              <a:buChar char="•"/>
            </a:pPr>
            <a:r>
              <a:rPr lang="fr-FR" sz="1600" b="1" dirty="0">
                <a:latin typeface="Aptos"/>
                <a:cs typeface="Arial" panose="020B0604020202020204" pitchFamily="34" charset="0"/>
              </a:rPr>
              <a:t>Preuve de recharge : </a:t>
            </a:r>
            <a:r>
              <a:rPr lang="fr-FR" sz="1600" dirty="0">
                <a:latin typeface="Aptos"/>
                <a:cs typeface="Arial" panose="020B0604020202020204" pitchFamily="34" charset="0"/>
              </a:rPr>
              <a:t>L'inversion du courant (valeurs négatives) et l'apparition des ondulations MLI prouvent physiquement le passage en mode recharge et la précision du modèle.</a:t>
            </a:r>
          </a:p>
          <a:p>
            <a:pPr marL="285750" indent="-285750" algn="just">
              <a:buFont typeface="Arial" panose="020B0604020202020204" pitchFamily="34" charset="0"/>
              <a:buChar char="•"/>
            </a:pPr>
            <a:r>
              <a:rPr lang="fr-FR" sz="1600" b="1" dirty="0">
                <a:latin typeface="Aptos"/>
                <a:cs typeface="Arial" panose="020B0604020202020204" pitchFamily="34" charset="0"/>
              </a:rPr>
              <a:t>Stabilité électrique : </a:t>
            </a:r>
            <a:r>
              <a:rPr lang="fr-FR" sz="1600" dirty="0">
                <a:latin typeface="Aptos"/>
                <a:cs typeface="Arial" panose="020B0604020202020204" pitchFamily="34" charset="0"/>
              </a:rPr>
              <a:t>La stabilisation de la tension autour de 600 V après le passage initial valide la sécurité et le bon pilotage de la chaîne de traction.</a:t>
            </a:r>
          </a:p>
        </p:txBody>
      </p:sp>
    </p:spTree>
    <p:extLst>
      <p:ext uri="{BB962C8B-B14F-4D97-AF65-F5344CB8AC3E}">
        <p14:creationId xmlns:p14="http://schemas.microsoft.com/office/powerpoint/2010/main" val="3725938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E2F43-89BB-9A49-A536-B1E51D65B1E0}"/>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2F5747D5-1724-6B76-4F30-DD081CE6ABE8}"/>
              </a:ext>
            </a:extLst>
          </p:cNvPr>
          <p:cNvSpPr/>
          <p:nvPr/>
        </p:nvSpPr>
        <p:spPr>
          <a:xfrm>
            <a:off x="571500" y="352403"/>
            <a:ext cx="5095947"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Interprétation et synthèse des résultats</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1C7C1B2A-EDCA-B494-555C-2AEE08729B90}"/>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5E3B17A8-8E37-9D03-F8EF-7B93DC607973}"/>
              </a:ext>
            </a:extLst>
          </p:cNvPr>
          <p:cNvSpPr/>
          <p:nvPr/>
        </p:nvSpPr>
        <p:spPr>
          <a:xfrm>
            <a:off x="571500" y="919895"/>
            <a:ext cx="4076757"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Validation de la récupération d'énergie </a:t>
            </a:r>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C27D944-A613-E05A-299D-3FB048C5485B}"/>
              </a:ext>
            </a:extLst>
          </p:cNvPr>
          <p:cNvSpPr/>
          <p:nvPr/>
        </p:nvSpPr>
        <p:spPr>
          <a:xfrm>
            <a:off x="822214" y="1487387"/>
            <a:ext cx="7825339" cy="360098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fr-FR" sz="1600" b="1" dirty="0">
                <a:latin typeface="Aptos"/>
                <a:ea typeface="Aptos"/>
                <a:cs typeface="Arial" panose="020B0604020202020204" pitchFamily="34" charset="0"/>
              </a:rPr>
              <a:t>Validation du critère central : </a:t>
            </a:r>
            <a:r>
              <a:rPr lang="fr-FR" sz="1600" dirty="0">
                <a:latin typeface="Aptos"/>
                <a:ea typeface="Aptos"/>
                <a:cs typeface="Arial" panose="020B0604020202020204" pitchFamily="34" charset="0"/>
              </a:rPr>
              <a:t>Confirmation de la capacité du système à récupérer l'énergie cinétique.</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Observation du SOC : </a:t>
            </a:r>
            <a:r>
              <a:rPr lang="fr-FR" sz="1600" dirty="0">
                <a:latin typeface="Aptos"/>
                <a:ea typeface="Aptos"/>
                <a:cs typeface="Arial" panose="020B0604020202020204" pitchFamily="34" charset="0"/>
              </a:rPr>
              <a:t>Augmentation systématique de l'état de charge de la batterie lors de chaque phase de freinage.</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Efficacité du modèle réel :</a:t>
            </a:r>
            <a:r>
              <a:rPr lang="fr-FR" sz="1600" dirty="0">
                <a:latin typeface="Aptos"/>
                <a:ea typeface="Aptos"/>
                <a:cs typeface="Arial" panose="020B0604020202020204" pitchFamily="34" charset="0"/>
              </a:rPr>
              <a:t> Remontée nette du SOC (de 60 % à 60,15 % ) malgré les pertes physiques.</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Robustesse : </a:t>
            </a:r>
            <a:r>
              <a:rPr lang="fr-FR" sz="1600" dirty="0">
                <a:latin typeface="Aptos"/>
                <a:ea typeface="Aptos"/>
                <a:cs typeface="Arial" panose="020B0604020202020204" pitchFamily="34" charset="0"/>
              </a:rPr>
              <a:t>Récupération validée même en tenant compte des pertes de l'onduleur et de la machine synchrone.</a:t>
            </a:r>
          </a:p>
          <a:p>
            <a:pPr marL="285750" indent="-285750" algn="just">
              <a:buFont typeface="Arial" panose="020B0604020202020204" pitchFamily="34" charset="0"/>
              <a:buChar char="•"/>
            </a:pPr>
            <a:endParaRPr lang="fr-FR" dirty="0">
              <a:latin typeface="Aptos"/>
              <a:ea typeface="Aptos"/>
              <a:cs typeface="Arial" panose="020B0604020202020204" pitchFamily="34" charset="0"/>
            </a:endParaRPr>
          </a:p>
          <a:p>
            <a:pPr marL="285750" indent="-285750" algn="just">
              <a:buFont typeface="Arial" panose="020B0604020202020204" pitchFamily="34" charset="0"/>
              <a:buChar char="•"/>
            </a:pPr>
            <a:endParaRPr lang="fr-FR" dirty="0">
              <a:latin typeface="Aptos"/>
              <a:ea typeface="Aptos"/>
              <a:cs typeface="Arial" panose="020B0604020202020204" pitchFamily="34" charset="0"/>
            </a:endParaRPr>
          </a:p>
        </p:txBody>
      </p:sp>
    </p:spTree>
    <p:extLst>
      <p:ext uri="{BB962C8B-B14F-4D97-AF65-F5344CB8AC3E}">
        <p14:creationId xmlns:p14="http://schemas.microsoft.com/office/powerpoint/2010/main" val="3775201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56D9A-429C-CEC5-D655-3E0DE1E34A86}"/>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3DF071C5-8D6A-16DF-8A77-2FD60A85551C}"/>
              </a:ext>
            </a:extLst>
          </p:cNvPr>
          <p:cNvSpPr/>
          <p:nvPr/>
        </p:nvSpPr>
        <p:spPr>
          <a:xfrm>
            <a:off x="571500" y="352403"/>
            <a:ext cx="5095947"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Interprétation et synthèse des résultats</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69E5F2A5-D3FE-D680-867C-E1F68E7566E2}"/>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CC422D84-5A66-402D-C4BF-6D79C78AFF5B}"/>
              </a:ext>
            </a:extLst>
          </p:cNvPr>
          <p:cNvSpPr/>
          <p:nvPr/>
        </p:nvSpPr>
        <p:spPr>
          <a:xfrm>
            <a:off x="571500" y="919895"/>
            <a:ext cx="4372031"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Validation de la coordination des freinages</a:t>
            </a:r>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A9DD2AC-62D8-CF4C-A1C9-8B1BD1631D6F}"/>
              </a:ext>
            </a:extLst>
          </p:cNvPr>
          <p:cNvSpPr/>
          <p:nvPr/>
        </p:nvSpPr>
        <p:spPr>
          <a:xfrm>
            <a:off x="822214" y="1487387"/>
            <a:ext cx="7825339" cy="332398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fr-FR" sz="1600" b="1" dirty="0">
                <a:latin typeface="Aptos"/>
                <a:ea typeface="Aptos"/>
                <a:cs typeface="Arial" panose="020B0604020202020204" pitchFamily="34" charset="0"/>
              </a:rPr>
              <a:t>Conformité au cahier des charges : </a:t>
            </a:r>
            <a:r>
              <a:rPr lang="fr-FR" sz="1600" dirty="0">
                <a:latin typeface="Aptos"/>
                <a:ea typeface="Aptos"/>
                <a:cs typeface="Arial" panose="020B0604020202020204" pitchFamily="34" charset="0"/>
              </a:rPr>
              <a:t>Répartition intelligente et précise de l'effort de freinage.</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Complémentarité parfaite : </a:t>
            </a:r>
            <a:r>
              <a:rPr lang="fr-FR" sz="1600" dirty="0">
                <a:latin typeface="Aptos"/>
                <a:cs typeface="Arial" panose="020B0604020202020204" pitchFamily="34" charset="0"/>
              </a:rPr>
              <a:t>Synergie totale entre le couple moteur (électrique) et le couple hydraulique (mécanique).</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Transition fluide : </a:t>
            </a:r>
            <a:r>
              <a:rPr lang="fr-FR" sz="1600" dirty="0">
                <a:latin typeface="Aptos"/>
                <a:cs typeface="Arial" panose="020B0604020202020204" pitchFamily="34" charset="0"/>
              </a:rPr>
              <a:t>Passage de relais sans discontinuité lorsque la régénération est saturée ou insuffisante.</a:t>
            </a:r>
          </a:p>
          <a:p>
            <a:pPr marL="285750" indent="-285750" algn="just">
              <a:lnSpc>
                <a:spcPct val="150000"/>
              </a:lnSpc>
              <a:buFont typeface="Arial" panose="020B0604020202020204" pitchFamily="34" charset="0"/>
              <a:buChar char="•"/>
            </a:pPr>
            <a:r>
              <a:rPr lang="fr-FR" sz="1600" b="1" dirty="0">
                <a:latin typeface="Aptos"/>
                <a:cs typeface="Arial" panose="020B0604020202020204" pitchFamily="34" charset="0"/>
              </a:rPr>
              <a:t>Priorité sécurité : </a:t>
            </a:r>
            <a:r>
              <a:rPr lang="fr-FR" sz="1600" dirty="0">
                <a:latin typeface="Aptos"/>
                <a:cs typeface="Arial" panose="020B0604020202020204" pitchFamily="34" charset="0"/>
              </a:rPr>
              <a:t>Satisfaction permanente de la consigne du conducteur pour garantir la stabilité du véhicule.</a:t>
            </a:r>
            <a:endParaRPr lang="fr-FR" dirty="0">
              <a:latin typeface="Aptos"/>
              <a:ea typeface="Aptos"/>
              <a:cs typeface="Arial" panose="020B0604020202020204" pitchFamily="34" charset="0"/>
            </a:endParaRPr>
          </a:p>
          <a:p>
            <a:pPr marL="285750" indent="-285750" algn="just">
              <a:buFont typeface="Arial" panose="020B0604020202020204" pitchFamily="34" charset="0"/>
              <a:buChar char="•"/>
            </a:pPr>
            <a:endParaRPr lang="fr-FR" dirty="0">
              <a:latin typeface="Aptos"/>
              <a:ea typeface="Aptos"/>
              <a:cs typeface="Arial" panose="020B0604020202020204" pitchFamily="34" charset="0"/>
            </a:endParaRPr>
          </a:p>
        </p:txBody>
      </p:sp>
    </p:spTree>
    <p:extLst>
      <p:ext uri="{BB962C8B-B14F-4D97-AF65-F5344CB8AC3E}">
        <p14:creationId xmlns:p14="http://schemas.microsoft.com/office/powerpoint/2010/main" val="3897314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F53B0-CFC9-5BBF-F2DD-0CDEEC6CEDCE}"/>
            </a:ext>
          </a:extLst>
        </p:cNvPr>
        <p:cNvGrpSpPr/>
        <p:nvPr/>
      </p:nvGrpSpPr>
      <p:grpSpPr>
        <a:xfrm>
          <a:off x="0" y="0"/>
          <a:ext cx="0" cy="0"/>
          <a:chOff x="0" y="0"/>
          <a:chExt cx="0" cy="0"/>
        </a:xfrm>
      </p:grpSpPr>
      <p:sp>
        <p:nvSpPr>
          <p:cNvPr id="90" name="Text 0">
            <a:extLst>
              <a:ext uri="{FF2B5EF4-FFF2-40B4-BE49-F238E27FC236}">
                <a16:creationId xmlns:a16="http://schemas.microsoft.com/office/drawing/2014/main" id="{E1242B94-4ECF-F251-F93D-BC1CC0C6AFEB}"/>
              </a:ext>
            </a:extLst>
          </p:cNvPr>
          <p:cNvSpPr/>
          <p:nvPr/>
        </p:nvSpPr>
        <p:spPr>
          <a:xfrm>
            <a:off x="571500" y="352403"/>
            <a:ext cx="5095947" cy="369332"/>
          </a:xfrm>
          <a:prstGeom prst="rect">
            <a:avLst/>
          </a:prstGeom>
          <a:noFill/>
          <a:ln/>
        </p:spPr>
        <p:txBody>
          <a:bodyPr wrap="none" lIns="0" tIns="0" rIns="0" bIns="0" rtlCol="0" anchor="t">
            <a:spAutoFit/>
          </a:bodyPr>
          <a:lstStyle/>
          <a:p>
            <a:r>
              <a:rPr lang="fr-FR" sz="2400" b="1" dirty="0">
                <a:latin typeface="Times New Roman" panose="02020603050405020304" pitchFamily="18" charset="0"/>
                <a:cs typeface="Times New Roman" panose="02020603050405020304" pitchFamily="18" charset="0"/>
              </a:rPr>
              <a:t>Interprétation et synthèse des résultats</a:t>
            </a:r>
            <a:endParaRPr lang="en-US" sz="2400" dirty="0">
              <a:latin typeface="Times New Roman" panose="02020603050405020304" pitchFamily="18" charset="0"/>
              <a:cs typeface="Times New Roman" panose="02020603050405020304" pitchFamily="18" charset="0"/>
            </a:endParaRPr>
          </a:p>
        </p:txBody>
      </p:sp>
      <p:sp>
        <p:nvSpPr>
          <p:cNvPr id="91" name="Shape 2">
            <a:extLst>
              <a:ext uri="{FF2B5EF4-FFF2-40B4-BE49-F238E27FC236}">
                <a16:creationId xmlns:a16="http://schemas.microsoft.com/office/drawing/2014/main" id="{6BA0544E-5941-07E5-8CE5-C6A9729535C7}"/>
              </a:ext>
            </a:extLst>
          </p:cNvPr>
          <p:cNvSpPr/>
          <p:nvPr/>
        </p:nvSpPr>
        <p:spPr>
          <a:xfrm>
            <a:off x="414336" y="413749"/>
            <a:ext cx="85725" cy="246639"/>
          </a:xfrm>
          <a:prstGeom prst="rect">
            <a:avLst/>
          </a:prstGeom>
          <a:solidFill>
            <a:srgbClr val="DC2626"/>
          </a:solidFill>
          <a:ln/>
        </p:spPr>
        <p:txBody>
          <a:bodyPr/>
          <a:lstStyle/>
          <a:p>
            <a:endParaRPr lang="en-US"/>
          </a:p>
        </p:txBody>
      </p:sp>
      <p:sp>
        <p:nvSpPr>
          <p:cNvPr id="4" name="Rectangle 3">
            <a:extLst>
              <a:ext uri="{FF2B5EF4-FFF2-40B4-BE49-F238E27FC236}">
                <a16:creationId xmlns:a16="http://schemas.microsoft.com/office/drawing/2014/main" id="{82952A87-CE74-FD2E-E612-5F4EB9A2AA75}"/>
              </a:ext>
            </a:extLst>
          </p:cNvPr>
          <p:cNvSpPr/>
          <p:nvPr/>
        </p:nvSpPr>
        <p:spPr>
          <a:xfrm>
            <a:off x="571500" y="919895"/>
            <a:ext cx="3775393" cy="369332"/>
          </a:xfrm>
          <a:prstGeom prst="rect">
            <a:avLst/>
          </a:prstGeom>
        </p:spPr>
        <p:txBody>
          <a:bodyPr wrap="none">
            <a:spAutoFit/>
          </a:bodyPr>
          <a:lstStyle/>
          <a:p>
            <a:r>
              <a:rPr lang="fr-FR" b="1" dirty="0">
                <a:latin typeface="Times New Roman" panose="02020603050405020304" pitchFamily="18" charset="0"/>
                <a:ea typeface="Aptos"/>
                <a:cs typeface="Times New Roman" panose="02020603050405020304" pitchFamily="18" charset="0"/>
              </a:rPr>
              <a:t>Comportement face aux contraintes </a:t>
            </a:r>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A95B0CD-3D94-6857-AD0D-E336F6AEB681}"/>
              </a:ext>
            </a:extLst>
          </p:cNvPr>
          <p:cNvSpPr/>
          <p:nvPr/>
        </p:nvSpPr>
        <p:spPr>
          <a:xfrm>
            <a:off x="659330" y="1368919"/>
            <a:ext cx="7825339" cy="795539"/>
          </a:xfrm>
          <a:prstGeom prst="rect">
            <a:avLst/>
          </a:prstGeom>
        </p:spPr>
        <p:txBody>
          <a:bodyPr wrap="square">
            <a:spAutoFit/>
          </a:bodyPr>
          <a:lstStyle/>
          <a:p>
            <a:pPr algn="just">
              <a:lnSpc>
                <a:spcPct val="150000"/>
              </a:lnSpc>
            </a:pPr>
            <a:r>
              <a:rPr lang="fr-FR" sz="1600" dirty="0">
                <a:latin typeface="Aptos"/>
                <a:cs typeface="Arial" panose="020B0604020202020204" pitchFamily="34" charset="0"/>
              </a:rPr>
              <a:t>Les différents scénarios de test ont mis en évidence la robustesse de la logique de décision : </a:t>
            </a:r>
            <a:endParaRPr lang="fr-FR" dirty="0">
              <a:latin typeface="Aptos"/>
              <a:ea typeface="Aptos"/>
              <a:cs typeface="Arial" panose="020B0604020202020204" pitchFamily="34" charset="0"/>
            </a:endParaRPr>
          </a:p>
        </p:txBody>
      </p:sp>
      <p:pic>
        <p:nvPicPr>
          <p:cNvPr id="3" name="Picture 2">
            <a:extLst>
              <a:ext uri="{FF2B5EF4-FFF2-40B4-BE49-F238E27FC236}">
                <a16:creationId xmlns:a16="http://schemas.microsoft.com/office/drawing/2014/main" id="{533A9CD6-5AA3-385F-222C-0704E2315BEC}"/>
              </a:ext>
            </a:extLst>
          </p:cNvPr>
          <p:cNvPicPr>
            <a:picLocks noChangeAspect="1"/>
          </p:cNvPicPr>
          <p:nvPr/>
        </p:nvPicPr>
        <p:blipFill>
          <a:blip r:embed="rId3"/>
          <a:stretch>
            <a:fillRect/>
          </a:stretch>
        </p:blipFill>
        <p:spPr>
          <a:xfrm>
            <a:off x="457198" y="2244150"/>
            <a:ext cx="8541189" cy="2133710"/>
          </a:xfrm>
          <a:prstGeom prst="rect">
            <a:avLst/>
          </a:prstGeom>
        </p:spPr>
      </p:pic>
    </p:spTree>
    <p:extLst>
      <p:ext uri="{BB962C8B-B14F-4D97-AF65-F5344CB8AC3E}">
        <p14:creationId xmlns:p14="http://schemas.microsoft.com/office/powerpoint/2010/main" val="2428457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1500" y="1560327"/>
            <a:ext cx="8056244" cy="2169825"/>
          </a:xfrm>
          <a:prstGeom prst="rect">
            <a:avLst/>
          </a:prstGeom>
        </p:spPr>
        <p:txBody>
          <a:bodyPr wrap="square">
            <a:spAutoFit/>
          </a:bodyPr>
          <a:lstStyle/>
          <a:p>
            <a:pPr algn="just">
              <a:lnSpc>
                <a:spcPct val="150000"/>
              </a:lnSpc>
            </a:pPr>
            <a:r>
              <a:rPr lang="fr-FR" noProof="0" dirty="0"/>
              <a:t>Ce projet valide une stratégie de freinage régénératif sous MATLAB/Simulink, confirmant une récupération d'énergie réelle (hausse du SOC) et une coordination sécurisée avec le freinage mécanique. En optimisant l'autonomie et la durabilité du véhicule, cette solution répond aux enjeux de la mobilité durable tout en ouvrant des perspectives vers des lois de commande encore plus performantes. </a:t>
            </a:r>
            <a:endParaRPr lang="fr-FR" noProof="0" dirty="0">
              <a:latin typeface="Times New Roman" panose="02020603050405020304" pitchFamily="18" charset="0"/>
              <a:cs typeface="Times New Roman" panose="02020603050405020304" pitchFamily="18" charset="0"/>
            </a:endParaRPr>
          </a:p>
        </p:txBody>
      </p:sp>
      <p:sp>
        <p:nvSpPr>
          <p:cNvPr id="4" name="Text 0"/>
          <p:cNvSpPr/>
          <p:nvPr/>
        </p:nvSpPr>
        <p:spPr>
          <a:xfrm>
            <a:off x="571500" y="481943"/>
            <a:ext cx="1471557" cy="369332"/>
          </a:xfrm>
          <a:prstGeom prst="rect">
            <a:avLst/>
          </a:prstGeom>
          <a:noFill/>
          <a:ln/>
        </p:spPr>
        <p:txBody>
          <a:bodyPr wrap="none" lIns="0" tIns="0" rIns="0" bIns="0" rtlCol="0" anchor="t">
            <a:spAutoFit/>
          </a:bodyPr>
          <a:lstStyle/>
          <a:p>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p:txBody>
      </p:sp>
      <p:sp>
        <p:nvSpPr>
          <p:cNvPr id="5" name="Shape 2"/>
          <p:cNvSpPr/>
          <p:nvPr/>
        </p:nvSpPr>
        <p:spPr>
          <a:xfrm>
            <a:off x="414336" y="543289"/>
            <a:ext cx="85725" cy="246639"/>
          </a:xfrm>
          <a:prstGeom prst="rect">
            <a:avLst/>
          </a:prstGeom>
          <a:solidFill>
            <a:srgbClr val="DC2626"/>
          </a:solidFill>
          <a:ln/>
        </p:spPr>
        <p:txBody>
          <a:bodyPr/>
          <a:lstStyle/>
          <a:p>
            <a:endParaRPr lang="en-US"/>
          </a:p>
        </p:txBody>
      </p:sp>
    </p:spTree>
    <p:extLst>
      <p:ext uri="{BB962C8B-B14F-4D97-AF65-F5344CB8AC3E}">
        <p14:creationId xmlns:p14="http://schemas.microsoft.com/office/powerpoint/2010/main" val="1124608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TotalTime>
  <Words>1053</Words>
  <Application>Microsoft Office PowerPoint</Application>
  <PresentationFormat>Affichage à l'écran (16:9)</PresentationFormat>
  <Paragraphs>153</Paragraphs>
  <Slides>20</Slides>
  <Notes>19</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20</vt:i4>
      </vt:variant>
    </vt:vector>
  </HeadingPairs>
  <TitlesOfParts>
    <vt:vector size="35" baseType="lpstr">
      <vt:lpstr>Agency FB</vt:lpstr>
      <vt:lpstr>Aptos</vt:lpstr>
      <vt:lpstr>Arial</vt:lpstr>
      <vt:lpstr>Body Grotesque</vt:lpstr>
      <vt:lpstr>Calibri</vt:lpstr>
      <vt:lpstr>Google Sans Text</vt:lpstr>
      <vt:lpstr>Helvetica World Bold</vt:lpstr>
      <vt:lpstr>Lora</vt:lpstr>
      <vt:lpstr>Montserrat</vt:lpstr>
      <vt:lpstr>Playfair Display</vt:lpstr>
      <vt:lpstr>Source Sans Pro</vt:lpstr>
      <vt:lpstr>Space Grotesk</vt:lpstr>
      <vt:lpstr>Symbol</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40</cp:revision>
  <dcterms:created xsi:type="dcterms:W3CDTF">2026-03-30T17:14:16Z</dcterms:created>
  <dcterms:modified xsi:type="dcterms:W3CDTF">2026-06-25T14:46:56Z</dcterms:modified>
</cp:coreProperties>
</file>